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ONLY claim we make as 'the shift' is 'agents spend on their own' — observable, undeniable. Everything contentious is downgraded to ⚠ bets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Reframed 7/29: DON'T claim 'cost is invisible' — cloud logging shows the total. The real gap = per-feature/team/customer attribution + the 41% non-LLM spend nobody attributes. Numbers match the React demo for cross-consistency.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Placed as EVIDENCE of the 'loser,' not a personal hero story. Split acute (verified) vs. chronic (⚠ expansion bet). Source: why-now.md.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we explicitly drop 'savings.' Savings appears later (slide 7) only as a by-product.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Trust Ladder = our risk answer. Directly reflects the 'only OSS on the critical path' signal. Team-confirmed 7/23.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slide = embed the React demo (per-customer unit economics + real-time budget hard-limits + routing). Never use the 'kernel/C++' framing from the old Gemini draft.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A-LED BLEND (CEO decision 8/3): sell to reachable AI-native scaleups now; ride the non-AI-native wave as expansion. Pre-empts 'just buy tokens' ($50K+ spend) &amp; 'build it yourself' — AI-native answer = buy-vs-build ROI + cross-vendor + audit-grade + peer-benchmark data they can't replicate; and the rebuttal structurally dies as we expand to non-AI-native (no AI-eng DNA). Source: ICP/ICP.md.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A-LED BLEND: near-term SOM = reachable AI-native scaleups (evidence + product coherence); the SLOPE = the far larger non-AI-native wave whose adoption curve is just starting → 3–4x by 2030 (they can't build it → ours to take). Never present the old LAM $80K as market size. We don't price on take-rate — sizing sanity check only. Source: Market/TAM-SAM-SOM.md.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Reframed 7/29: don't say rivals 'can't see cost' — they show totals. HONESTY: FinOps already sells per-unit attribution, but for cloud/infra spend, after-the-fact, not the agent execution path. Our differentiation = the intersection. SatGate pre-launch = timing validation, not absent demand.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Feature matrix. Row 1 (LLM tracking) = table stakes — everyone has it, shows honesty. Rows 2-5 = our wedge. Key: runaway loop detection = NOBODY. Don’t claim we’re the only ones attributing cost — FinOps does per-unit for cloud. Our intersection = rows 3+4+2 together. Source: Competitor-Analysis/기능-비교-매트릭스.md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Timeline: entry (free credit-countdown wedge) → differentiation (unit economics + unit-price catalog) → moat (simulation accuracy + benchmark).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DEFINITION for Q&amp;A: 'monitored agent' = a named, registered agent pipeline (not an API request, not an invocation). If judge asks 'what counts as one agent?' → 'Same as a Datadog host: each distinct AI workflow you deploy gets one Kyber agent registration.' This avoids the 'does traffic spike my bill?' objection. ACV $30K = median of competitor mid-market ACVs (deep research 7/28). Detail: Solution/가격-재무-딥리서치-2026-07.md.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Trust Ladder steps 1→2→3 ARE the GTM expansion path. Beachhead = reachable AI-native scaleups (evidence + product coherence); non-AI-native mid-market (logistics-first) is the expansion where 'build it yourself' dies. Based on the stakeholder-map action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HONESTY for Q&amp;A: 2 real async LinkedIn screenings + 5 persona-based validations (role-play against researched personas) = 7 touchpoints; 0 formal live interviews yet. If asked 'were the 5 real people?' → answer straight: 'persona dry-runs of our Mom-Test guide to pressure-test H0 &amp; rebuttals before live outreach.' Do NOT imply they were live customers. Names are anonymized in this file (public repo, 7/23 confidentiality rule) — say the real identities on stage / keep them local-only, never in the deck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it short. One line on 'why us' to be filled by the team. Resolve the Team-slide role inconsistency before the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Finance goal = a 2nd meeting, not a precise forecast. THE ASK IS INTRODUCTIONS, NOT CAPITAL. Curve is credible but AGGRESSIVE (5.6x then 3.6x) — strong-execution case; NRR 110% = top-quartile target; ACV $30K = competitor-median validated. Don't raise a funding amount unless a judge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320040" cy="2194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194560"/>
            <a:ext cx="10424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E8ECF1"/>
                </a:solidFill>
                <a:latin typeface="Calibri"/>
              </a:rPr>
              <a:t>Kyber</a:t>
            </a:r>
          </a:p>
          <a:p>
            <a:pPr algn="l">
              <a:spcBef>
                <a:spcPts val="600"/>
              </a:spcBef>
            </a:pPr>
            <a:r>
              <a:rPr sz="2200" b="0" i="0">
                <a:solidFill>
                  <a:srgbClr val="35C9C9"/>
                </a:solidFill>
                <a:latin typeface="Calibri"/>
              </a:rPr>
              <a:t>Make the cost of every AI agent explainable.</a:t>
            </a:r>
          </a:p>
          <a:p>
            <a:pPr algn="l">
              <a:spcBef>
                <a:spcPts val="2200"/>
              </a:spcBef>
            </a:pPr>
            <a:r>
              <a:rPr sz="2000" b="0" i="1">
                <a:solidFill>
                  <a:srgbClr val="E8ECF1"/>
                </a:solidFill>
                <a:latin typeface="Calibri"/>
              </a:rPr>
              <a:t>"Not CCTV after the fire — a breaker before it ignites."</a:t>
            </a:r>
          </a:p>
          <a:p>
            <a:pPr algn="l">
              <a:spcBef>
                <a:spcPts val="1000"/>
              </a:spcBef>
            </a:pPr>
            <a:r>
              <a:rPr sz="1400" b="0" i="0">
                <a:solidFill>
                  <a:srgbClr val="9AA7B4"/>
                </a:solidFill>
                <a:latin typeface="Calibri"/>
              </a:rPr>
              <a:t>Govern the LLM / tool / external-API cost agents burn on their own — on the execution path — and explain it, audit-grade.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594360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7B4"/>
                </a:solidFill>
                <a:latin typeface="Calibri"/>
              </a:rPr>
              <a:t>Team Kyber · 2026</a:t>
            </a:r>
          </a:p>
          <a:p>
            <a:pPr algn="l"/>
            <a:r>
              <a:rPr sz="1100" b="1" i="0">
                <a:solidFill>
                  <a:srgbClr val="FF6B35"/>
                </a:solidFill>
                <a:latin typeface="Calibri"/>
              </a:rPr>
              <a:t>VERSION A — Pure Market Shift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THE SHIFT · THE SPINE (UNDENIABLE LAYER)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The decider of AI spend has moved from humans to the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Old world: cost is declared by the developer in code → predictable, controllable.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New world: the model itself decides which tool to call, when, and how many times → the spend trigger moves to the model.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Production-agent tokens ≈ 50× a chatbot. Finance has lost control.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35C9C9"/>
                </a:solidFill>
                <a:latin typeface="Calibri"/>
              </a:rPr>
              <a:t>▸  Why Now: someone has to solve this now, with or without us — Meta &amp; Uber already built their own gateways; SatGate pre-launched.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THE VILLAIN · LOSER'S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E8ECF1"/>
                </a:solidFill>
                <a:latin typeface="Calibri"/>
              </a:rPr>
              <a:t>The total is visible. The breakdown isn't.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257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E8ECF1"/>
                </a:solidFill>
                <a:latin typeface="Calibri"/>
              </a:rPr>
              <a:t>▸  Cloud logging already shows the monthly total — that's not the gap. No one can break it down by feature / team / customer.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E8ECF1"/>
                </a:solidFill>
                <a:latin typeface="Calibri"/>
              </a:rPr>
              <a:t>▸  Observability = monthly, after-the-fact. Static keys &amp; caps = a blunt knife that can't tell normal from runaway.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35C9C9"/>
                </a:solidFill>
                <a:latin typeface="Calibri"/>
              </a:rPr>
              <a:t>▸  And tools see only up to the LLM call. Search, crawling, third-party APIs are off-screen — so true unit cost is never attributed.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4884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000" b="1" i="0">
                <a:solidFill>
                  <a:srgbClr val="35C9C9"/>
                </a:solidFill>
                <a:latin typeface="Calibri"/>
              </a:rPr>
              <a:t>41%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30632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ECF1"/>
                </a:solidFill>
                <a:latin typeface="Calibri"/>
              </a:rPr>
              <a:t>of COGS never touches a model.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34015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A7B4"/>
                </a:solidFill>
                <a:latin typeface="Calibri"/>
              </a:rPr>
              <a:t>It is tool &amp; retrieval spend token dashboards don't see.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46520" y="4069080"/>
            <a:ext cx="2778404" cy="566928"/>
          </a:xfrm>
          <a:prstGeom prst="rect">
            <a:avLst/>
          </a:prstGeom>
          <a:solidFill>
            <a:srgbClr val="4A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224924" y="4069080"/>
            <a:ext cx="1130198" cy="56692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355122" y="4069080"/>
            <a:ext cx="800557" cy="566928"/>
          </a:xfrm>
          <a:prstGeom prst="rect">
            <a:avLst/>
          </a:prstGeom>
          <a:solidFill>
            <a:srgbClr val="35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73952" y="4937760"/>
            <a:ext cx="128016" cy="128016"/>
          </a:xfrm>
          <a:prstGeom prst="ellipse">
            <a:avLst/>
          </a:prstGeom>
          <a:solidFill>
            <a:srgbClr val="4A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489204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ECF1"/>
                </a:solidFill>
                <a:latin typeface="Calibri"/>
              </a:rPr>
              <a:t>LLM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489204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A7B4"/>
                </a:solidFill>
                <a:latin typeface="Calibri"/>
              </a:rPr>
              <a:t>59% · $68.8K</a:t>
            </a:r>
          </a:p>
        </p:txBody>
      </p:sp>
      <p:sp>
        <p:nvSpPr>
          <p:cNvPr id="16" name="Oval 15"/>
          <p:cNvSpPr/>
          <p:nvPr/>
        </p:nvSpPr>
        <p:spPr>
          <a:xfrm>
            <a:off x="6473952" y="5321808"/>
            <a:ext cx="128016" cy="128016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5276088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ECF1"/>
                </a:solidFill>
                <a:latin typeface="Calibri"/>
              </a:rPr>
              <a:t>Search Tool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5276088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A7B4"/>
                </a:solidFill>
                <a:latin typeface="Calibri"/>
              </a:rPr>
              <a:t>24% · $27.9K</a:t>
            </a:r>
          </a:p>
        </p:txBody>
      </p:sp>
      <p:sp>
        <p:nvSpPr>
          <p:cNvPr id="19" name="Oval 18"/>
          <p:cNvSpPr/>
          <p:nvPr/>
        </p:nvSpPr>
        <p:spPr>
          <a:xfrm>
            <a:off x="6473952" y="5705856"/>
            <a:ext cx="128016" cy="128016"/>
          </a:xfrm>
          <a:prstGeom prst="ellipse">
            <a:avLst/>
          </a:prstGeom>
          <a:solidFill>
            <a:srgbClr val="35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5660136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ECF1"/>
                </a:solidFill>
                <a:latin typeface="Calibri"/>
              </a:rPr>
              <a:t>External 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5660136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A7B4"/>
                </a:solidFill>
                <a:latin typeface="Calibri"/>
              </a:rPr>
              <a:t>17% · $20.0K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6172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5C9C9"/>
                </a:solidFill>
                <a:latin typeface="Calibri"/>
              </a:rPr>
              <a:t>Search + DB = $47.8K nobody attributes to the agent that spent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REAL PAIN · EVIDENCE, NOT A HERO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The problem isn't 'we don't know how much' — it's 'we can't explain why.'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Acute (verified wedge): one dev, an infinite retry loop → $47K billed, unnoticed for 11 days. A B2B SaaS: API usage +400% overnight.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At enterprise scale, control failure = hundreds of millions/yr.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Redefinition: the spike is just the trigger. The real loss = even after the incident, no answer to 'cost per customer / which feature eats the margin.'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Chronic (always-on COGS explanation) = an expansion hypothesis we are validating in interviews.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THE PROMISED LAND · THE WINNER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You become a company that can explain AI cost per customer &amp; per feature — in real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'We cut your AI bill' ✗ → 'We let you explain your AI unit cost' ✓.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Pricing, the board, and due diligence become real-time numbers instead of guesses.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VEHICLE ·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A layer that attributes and controls cost — on the execution path.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Logging gives you the total; we give you the breakdown. We attribute &amp; govern every LLM + tool + external-API call at request time — per feature / team / customer.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"Not CCTV after the fire — a breaker before it ignites." Block before execution + audit-grade reason for the block.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Enter via a Trust Ladder: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     –  Step 1 — off-path reports (no proxy)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     –  Step 2 — async policy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     –  Step 3 — block inside the customer-owned gateway (we never own the path)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HOW IT WORKS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Three mechanisms — all in service of real-time cost attribution &amp; control.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1. Inline policy engine — evaluate &amp; block per session / customer / feature budget BEFORE execution. Block reason to an audit log. (SPOF/latency handled via sidecar, async, bypass.)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2. Semantic usage attribution — tag every call request → agent step → LLM / tool / external API. Keep a non-LLM unit-price catalog to sum true total cost.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3. Dynamic model routing (by-product) — route by complexity, save with no quality loss. Mentioned only as a bonus (public technique = not a moat).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CUSTOMER · WHO BUYS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Sell to the AI-native scaleups we reach now — ride the non-AI-native wave that can't build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Beachhead (paid now): AI-native scaleup B2B — $50K–$500K/mo AI spend, 50–300 people, Series A–C, high tool / external-API share. They own their execution path → our pre-execution control fits, and they're reachable for design partners.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Why start here: this is where our evidence, demo &amp; first real signal (an ML lead at an AI-search company) already point — and where the product coheres end to end.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Expansion wave: non-AI-native mid-market in AX (logistics, manufacturing, finance) — $100K+/mo, 3+ vendors. No AI-engineering DNA → structurally can't build → the 'build it yourself' rebuttal dies, and the population dwarfs AI-natives.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Buyer = CTO (economic), champion = AI / data-ops lead, finance = influencer. Per-customer COGS = a B2B need (customer = contract). Korea AI startups = free design partners.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Bet, not fact: spend threshold, buyer, and the non-AI-native 'can't build' claim = validating in interviews.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MARKET · TAM / SAM / SOM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E8ECF1"/>
                </a:solidFill>
                <a:latin typeface="Calibri"/>
              </a:rPr>
              <a:t>Beachhead = reachable AI-native scaleups. Slope = the non-AI-native wave that can't build it. Bet the slope.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257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E8ECF1"/>
                </a:solidFill>
                <a:latin typeface="Calibri"/>
              </a:rPr>
              <a:t>▸  TAM ≈ $0.5–1.5B (2026) → $2–6B (2030): 1–2% of $50–60B enterprise GenAI spend (top-down, segment-agnostic; FinOps take-rate anchor). CAGR ~20%.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E8ECF1"/>
                </a:solidFill>
                <a:latin typeface="Calibri"/>
              </a:rPr>
              <a:t>▸  SAM ≈ $0.24–0.45B → $0.8–1.8B: ICP-matching firms × ACV $30K — AI-native scaleups now, plus non-AI-native mid-market as it scales.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35C9C9"/>
                </a:solidFill>
                <a:latin typeface="Calibri"/>
              </a:rPr>
              <a:t>▸  SOM (3yr) ≈ $1.0–3.6M ARR: reachable AI-native beachhead (Korea design partners → US paid), expanding into non-AI-native adjacents.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F2C14E"/>
                </a:solidFill>
                <a:latin typeface="Calibri"/>
              </a:rPr>
              <a:t>▸  ⚠  SAM population = hypothesis, refined by interview screening pass-rate.</a:t>
            </a:r>
          </a:p>
        </p:txBody>
      </p:sp>
      <p:sp>
        <p:nvSpPr>
          <p:cNvPr id="7" name="Oval 6"/>
          <p:cNvSpPr/>
          <p:nvPr/>
        </p:nvSpPr>
        <p:spPr>
          <a:xfrm>
            <a:off x="6675120" y="2103120"/>
            <a:ext cx="4114800" cy="4114800"/>
          </a:xfrm>
          <a:prstGeom prst="ellipse">
            <a:avLst/>
          </a:prstGeom>
          <a:solidFill>
            <a:srgbClr val="12202B"/>
          </a:solidFill>
          <a:ln w="15875">
            <a:solidFill>
              <a:srgbClr val="35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83780" y="2811780"/>
            <a:ext cx="2697480" cy="2697480"/>
          </a:xfrm>
          <a:prstGeom prst="ellipse">
            <a:avLst/>
          </a:prstGeom>
          <a:solidFill>
            <a:srgbClr val="17323C"/>
          </a:solidFill>
          <a:ln w="12700">
            <a:solidFill>
              <a:srgbClr val="35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115300" y="3543300"/>
            <a:ext cx="1234440" cy="123444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9480" y="233172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5C9C9"/>
                </a:solidFill>
                <a:latin typeface="Calibri"/>
              </a:rPr>
              <a:t>TAM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26517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E8ECF1"/>
                </a:solidFill>
                <a:latin typeface="Calibri"/>
              </a:rPr>
              <a:t>$0.5–1.5B  (2026)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0920" y="32461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E8ECF1"/>
                </a:solidFill>
                <a:latin typeface="Calibri"/>
              </a:rPr>
              <a:t>SAM  $0.24–0.45B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0" y="3913632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E141B"/>
                </a:solidFill>
                <a:latin typeface="Calibri"/>
              </a:rPr>
              <a:t>SOM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422452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E141B"/>
                </a:solidFill>
                <a:latin typeface="Calibri"/>
              </a:rPr>
              <a:t>$1.0–3.6M ARR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61722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9AA7B4"/>
                </a:solidFill>
                <a:latin typeface="Calibri"/>
              </a:rPr>
              <a:t>3-yr, not to scale  ·  main lens = governed AI spend × ~1–2% take-rate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E8ECF1"/>
                </a:solidFill>
                <a:latin typeface="Calibri"/>
              </a:rPr>
              <a:t>Two axes: after-the-fact vs. pre-execution × total visibility vs. audit-grade attribution.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257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E8ECF1"/>
                </a:solidFill>
                <a:latin typeface="Calibri"/>
              </a:rPr>
              <a:t>▸  Showing the total is table stakes — logging, observability &amp; billing all do it.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35C9C9"/>
                </a:solidFill>
                <a:latin typeface="Calibri"/>
              </a:rPr>
              <a:t>▸  The gap = attributing the agent's full cost per feature / team / customer, audit-grade, before execution.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E8ECF1"/>
                </a:solidFill>
                <a:latin typeface="Calibri"/>
              </a:rPr>
              <a:t>▸  FinOps (CloudZero · Vantage) does per-unit attribution — but for cloud spend, after-the-fact, off the agent path.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E8ECF1"/>
                </a:solidFill>
                <a:latin typeface="Calibri"/>
              </a:rPr>
              <a:t>▸  Our square — pre-execution × audit-grade attribution. Nobody occupies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915400" y="2331720"/>
            <a:ext cx="2011680" cy="1600200"/>
          </a:xfrm>
          <a:prstGeom prst="rect">
            <a:avLst/>
          </a:prstGeom>
          <a:solidFill>
            <a:srgbClr val="14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6903720" y="3931920"/>
            <a:ext cx="4023360" cy="0"/>
          </a:xfrm>
          <a:prstGeom prst="bentConnector3">
            <a:avLst/>
          </a:prstGeom>
          <a:ln w="15875">
            <a:solidFill>
              <a:srgbClr val="9AA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15400" y="2331720"/>
            <a:ext cx="0" cy="3200400"/>
          </a:xfrm>
          <a:prstGeom prst="bentConnector3">
            <a:avLst/>
          </a:prstGeom>
          <a:ln w="15875">
            <a:solidFill>
              <a:srgbClr val="9AA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0" y="3767328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A7B4"/>
                </a:solidFill>
                <a:latin typeface="Calibri"/>
              </a:rPr>
              <a:t>After-the-fact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12680" y="376732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7B4"/>
                </a:solidFill>
                <a:latin typeface="Calibri"/>
              </a:rPr>
              <a:t>Pre-execution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0" y="2020824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35C9C9"/>
                </a:solidFill>
                <a:latin typeface="Calibri"/>
              </a:rPr>
              <a:t>Audit-grade attribution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555955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9AA7B4"/>
                </a:solidFill>
                <a:latin typeface="Calibri"/>
              </a:rPr>
              <a:t>Total visibility only</a:t>
            </a:r>
          </a:p>
        </p:txBody>
      </p:sp>
      <p:sp>
        <p:nvSpPr>
          <p:cNvPr id="14" name="Oval 13"/>
          <p:cNvSpPr/>
          <p:nvPr/>
        </p:nvSpPr>
        <p:spPr>
          <a:xfrm>
            <a:off x="7563916" y="4764024"/>
            <a:ext cx="128016" cy="128016"/>
          </a:xfrm>
          <a:prstGeom prst="ellipse">
            <a:avLst/>
          </a:prstGeom>
          <a:solidFill>
            <a:srgbClr val="9AA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5940" y="4681728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E8ECF1"/>
                </a:solidFill>
                <a:latin typeface="Calibri"/>
              </a:rPr>
              <a:t>Langfuse · Helicone</a:t>
            </a:r>
          </a:p>
        </p:txBody>
      </p:sp>
      <p:sp>
        <p:nvSpPr>
          <p:cNvPr id="16" name="Oval 15"/>
          <p:cNvSpPr/>
          <p:nvPr/>
        </p:nvSpPr>
        <p:spPr>
          <a:xfrm>
            <a:off x="7242048" y="5276088"/>
            <a:ext cx="128016" cy="128016"/>
          </a:xfrm>
          <a:prstGeom prst="ellipse">
            <a:avLst/>
          </a:prstGeom>
          <a:solidFill>
            <a:srgbClr val="9AA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4072" y="5193792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E8ECF1"/>
                </a:solidFill>
                <a:latin typeface="Calibri"/>
              </a:rPr>
              <a:t>Logs · scripts</a:t>
            </a:r>
          </a:p>
        </p:txBody>
      </p:sp>
      <p:sp>
        <p:nvSpPr>
          <p:cNvPr id="18" name="Oval 17"/>
          <p:cNvSpPr/>
          <p:nvPr/>
        </p:nvSpPr>
        <p:spPr>
          <a:xfrm>
            <a:off x="7805318" y="3099816"/>
            <a:ext cx="128016" cy="128016"/>
          </a:xfrm>
          <a:prstGeom prst="ellipse">
            <a:avLst/>
          </a:prstGeom>
          <a:solidFill>
            <a:srgbClr val="9AA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97342" y="3017520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E8ECF1"/>
                </a:solidFill>
                <a:latin typeface="Calibri"/>
              </a:rPr>
              <a:t>CloudZero · Vantage*</a:t>
            </a:r>
          </a:p>
        </p:txBody>
      </p:sp>
      <p:sp>
        <p:nvSpPr>
          <p:cNvPr id="20" name="Oval 19"/>
          <p:cNvSpPr/>
          <p:nvPr/>
        </p:nvSpPr>
        <p:spPr>
          <a:xfrm>
            <a:off x="9736531" y="4956048"/>
            <a:ext cx="128016" cy="128016"/>
          </a:xfrm>
          <a:prstGeom prst="ellipse">
            <a:avLst/>
          </a:prstGeom>
          <a:solidFill>
            <a:srgbClr val="9AA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0571" y="4873752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E8ECF1"/>
                </a:solidFill>
                <a:latin typeface="Calibri"/>
              </a:rPr>
              <a:t>LiteLLM · Portkey</a:t>
            </a:r>
          </a:p>
        </p:txBody>
      </p:sp>
      <p:sp>
        <p:nvSpPr>
          <p:cNvPr id="22" name="Oval 21"/>
          <p:cNvSpPr/>
          <p:nvPr/>
        </p:nvSpPr>
        <p:spPr>
          <a:xfrm>
            <a:off x="9816998" y="2907792"/>
            <a:ext cx="128016" cy="128016"/>
          </a:xfrm>
          <a:prstGeom prst="ellipse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51038" y="2825496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F2C14E"/>
                </a:solidFill>
                <a:latin typeface="Calibri"/>
              </a:rPr>
              <a:t>SatGate (pre-launch)</a:t>
            </a:r>
          </a:p>
        </p:txBody>
      </p:sp>
      <p:sp>
        <p:nvSpPr>
          <p:cNvPr id="24" name="Oval 23"/>
          <p:cNvSpPr/>
          <p:nvPr/>
        </p:nvSpPr>
        <p:spPr>
          <a:xfrm>
            <a:off x="10352836" y="2496312"/>
            <a:ext cx="182880" cy="18288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4308" y="2441448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6B35"/>
                </a:solidFill>
                <a:latin typeface="Calibri"/>
              </a:rPr>
              <a:t>Kyber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6199632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9AA7B4"/>
                </a:solidFill>
                <a:latin typeface="Calibri"/>
              </a:rPr>
              <a:t>*FinOps attributes cloud spend — off the agent path, after-the-fact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WHY KYBER · FEATURE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E8ECF1"/>
                </a:solidFill>
                <a:latin typeface="Calibri"/>
              </a:rPr>
              <a:t>Every competitor stops short on at least one axis. We don’t.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920240"/>
            <a:ext cx="2560320" cy="530352"/>
          </a:xfrm>
          <a:prstGeom prst="rect">
            <a:avLst/>
          </a:prstGeom>
          <a:solidFill>
            <a:srgbClr val="16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154680" y="1920240"/>
            <a:ext cx="1691640" cy="530352"/>
          </a:xfrm>
          <a:prstGeom prst="rect">
            <a:avLst/>
          </a:prstGeom>
          <a:solidFill>
            <a:srgbClr val="16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920240"/>
            <a:ext cx="1600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9AA7B4"/>
                </a:solidFill>
                <a:latin typeface="Calibri"/>
              </a:rPr>
              <a:t>Langfuse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846320" y="1920240"/>
            <a:ext cx="1691640" cy="530352"/>
          </a:xfrm>
          <a:prstGeom prst="rect">
            <a:avLst/>
          </a:prstGeom>
          <a:solidFill>
            <a:srgbClr val="16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92040" y="1920240"/>
            <a:ext cx="1600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9AA7B4"/>
                </a:solidFill>
                <a:latin typeface="Calibri"/>
              </a:rPr>
              <a:t>CloudZero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37960" y="1920240"/>
            <a:ext cx="1691640" cy="530352"/>
          </a:xfrm>
          <a:prstGeom prst="rect">
            <a:avLst/>
          </a:prstGeom>
          <a:solidFill>
            <a:srgbClr val="16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920240"/>
            <a:ext cx="1600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9AA7B4"/>
                </a:solidFill>
                <a:latin typeface="Calibri"/>
              </a:rPr>
              <a:t>LiteLLM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1920240"/>
            <a:ext cx="1691640" cy="530352"/>
          </a:xfrm>
          <a:prstGeom prst="rect">
            <a:avLst/>
          </a:prstGeom>
          <a:solidFill>
            <a:srgbClr val="16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1920240"/>
            <a:ext cx="1600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9AA7B4"/>
                </a:solidFill>
                <a:latin typeface="Calibri"/>
              </a:rPr>
              <a:t>SatGate 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921240" y="1920240"/>
            <a:ext cx="1691640" cy="530352"/>
          </a:xfrm>
          <a:prstGeom prst="rect">
            <a:avLst/>
          </a:prstGeom>
          <a:solidFill>
            <a:srgbClr val="35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66960" y="1920240"/>
            <a:ext cx="1600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E141B"/>
                </a:solidFill>
                <a:latin typeface="Calibri"/>
              </a:rPr>
              <a:t>Kyber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2450592"/>
            <a:ext cx="256032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2450592"/>
            <a:ext cx="2377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8ECF1"/>
                </a:solidFill>
                <a:latin typeface="Calibri"/>
              </a:rPr>
              <a:t>LLM cost tracking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54680" y="2450592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54680" y="2450592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35C9C9"/>
                </a:solidFill>
                <a:latin typeface="Calibri"/>
              </a:rPr>
              <a:t>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46320" y="2450592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2450592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35C9C9"/>
                </a:solidFill>
                <a:latin typeface="Calibri"/>
              </a:rPr>
              <a:t>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37960" y="2450592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450592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35C9C9"/>
                </a:solidFill>
                <a:latin typeface="Calibri"/>
              </a:rPr>
              <a:t>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2450592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2450592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F2C14E"/>
                </a:solidFill>
                <a:latin typeface="Calibri"/>
              </a:rPr>
              <a:t>~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921240" y="2450592"/>
            <a:ext cx="1691640" cy="530352"/>
          </a:xfrm>
          <a:prstGeom prst="rect">
            <a:avLst/>
          </a:prstGeom>
          <a:solidFill>
            <a:srgbClr val="0C2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21240" y="2450592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6B35"/>
                </a:solidFill>
                <a:latin typeface="Calibri"/>
              </a:rPr>
              <a:t>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2980944"/>
            <a:ext cx="256032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2980944"/>
            <a:ext cx="2377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8ECF1"/>
                </a:solidFill>
                <a:latin typeface="Calibri"/>
              </a:rPr>
              <a:t>Pre-execution blocking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54680" y="2980944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54680" y="2980944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46320" y="2980944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46320" y="2980944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37960" y="2980944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37960" y="2980944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35C9C9"/>
                </a:solidFill>
                <a:latin typeface="Calibri"/>
              </a:rPr>
              <a:t>✓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0" y="2980944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0" y="2980944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F2C14E"/>
                </a:solidFill>
                <a:latin typeface="Calibri"/>
              </a:rPr>
              <a:t>~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921240" y="2980944"/>
            <a:ext cx="1691640" cy="530352"/>
          </a:xfrm>
          <a:prstGeom prst="rect">
            <a:avLst/>
          </a:prstGeom>
          <a:solidFill>
            <a:srgbClr val="0C2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21240" y="2980944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6B35"/>
                </a:solidFill>
                <a:latin typeface="Calibri"/>
              </a:rPr>
              <a:t>✓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" y="3511296"/>
            <a:ext cx="256032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0664" y="3511296"/>
            <a:ext cx="2377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8ECF1"/>
                </a:solidFill>
                <a:latin typeface="Calibri"/>
              </a:rPr>
              <a:t>Non-LLM tool attribution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54680" y="3511296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154680" y="3511296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F2C14E"/>
                </a:solidFill>
                <a:latin typeface="Calibri"/>
              </a:rPr>
              <a:t>~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846320" y="3511296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46320" y="3511296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3511296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37960" y="3511296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29600" y="3511296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0" y="3511296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F2C14E"/>
                </a:solidFill>
                <a:latin typeface="Calibri"/>
              </a:rPr>
              <a:t>~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921240" y="3511296"/>
            <a:ext cx="1691640" cy="530352"/>
          </a:xfrm>
          <a:prstGeom prst="rect">
            <a:avLst/>
          </a:prstGeom>
          <a:solidFill>
            <a:srgbClr val="0C2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921240" y="3511296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6B35"/>
                </a:solidFill>
                <a:latin typeface="Calibri"/>
              </a:rPr>
              <a:t>✓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94360" y="4041648"/>
            <a:ext cx="256032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0664" y="4041648"/>
            <a:ext cx="2377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8ECF1"/>
                </a:solidFill>
                <a:latin typeface="Calibri"/>
              </a:rPr>
              <a:t>Per-customer COGS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54680" y="4041648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54680" y="4041648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846320" y="4041648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846320" y="4041648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F2C14E"/>
                </a:solidFill>
                <a:latin typeface="Calibri"/>
              </a:rPr>
              <a:t>~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37960" y="4041648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37960" y="4041648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229600" y="4041648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229600" y="4041648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F2C14E"/>
                </a:solidFill>
                <a:latin typeface="Calibri"/>
              </a:rPr>
              <a:t>~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921240" y="4041648"/>
            <a:ext cx="1691640" cy="530352"/>
          </a:xfrm>
          <a:prstGeom prst="rect">
            <a:avLst/>
          </a:prstGeom>
          <a:solidFill>
            <a:srgbClr val="0C2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921240" y="4041648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6B35"/>
                </a:solidFill>
                <a:latin typeface="Calibri"/>
              </a:rPr>
              <a:t>✓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94360" y="4572000"/>
            <a:ext cx="256032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0664" y="4572000"/>
            <a:ext cx="2377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8ECF1"/>
                </a:solidFill>
                <a:latin typeface="Calibri"/>
              </a:rPr>
              <a:t>Runaway loop detection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154680" y="4572000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154680" y="4572000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846320" y="4572000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846320" y="4572000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537960" y="4572000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37960" y="4572000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229600" y="4572000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229600" y="4572000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921240" y="4572000"/>
            <a:ext cx="1691640" cy="530352"/>
          </a:xfrm>
          <a:prstGeom prst="rect">
            <a:avLst/>
          </a:prstGeom>
          <a:solidFill>
            <a:srgbClr val="0C2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921240" y="4572000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6B35"/>
                </a:solidFill>
                <a:latin typeface="Calibri"/>
              </a:rPr>
              <a:t>✓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94360" y="51937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A7B4"/>
                </a:solidFill>
                <a:latin typeface="Calibri"/>
              </a:rPr>
              <a:t>❂ SatGate = pre-launch  ·  ~ = partial / claimed  ·  Langfuse = Langfuse/Helicone  ·  CloudZero = CloudZero/Vantage  ·  source: public docs 2026-07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MOAT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What gets copied is features. What can't be caught up is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Caching, routing, hard-limits = replicable in 6 months. Not a moat.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Moat = things that get stronger as customer data accumulates: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     –  1. Unit-economics accuracy gap — more traffic → sharper runaway detection &amp; cost simulation. Followers start from zero data.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     –  2. Peer benchmark (lagging) — 'top 20% cost-per-request vs. your peer type.' Scales with customer count; structurally impossible for latecomers.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Once this cost view is embedded in pricing &amp; board routines, switching cost spikes.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BUSINESS MODEL · 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A company that sells cost does not earn in proportion to the customer's cost.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Spend-proportional pricing ✗ (conflicts with the savings incentive). Price on monitored agents — not API calls, not spend.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35C9C9"/>
                </a:solidFill>
                <a:latin typeface="Calibri"/>
              </a:rPr>
              <a:t>▸  1 monitored agent = 1 distinct AI feature pipeline deployed in production (e.g., 'search-agent', 'summarizer', 'onboarding-bot'). Analogous to Datadog's per-host or APM per-service.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3 tiers: Free → Growth ~$18K/yr (automated COGS report) → Enterprise ~$60K/yr (audit-grade + in-path blocking). Blended ACV ~$30K.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Anchored in comps: LLM observability $5–25K &lt; us $30K &lt; cloud FinOps $30–130K. Precedents: Agentforce per-agent, Datadog per-host.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Expansion = as the customer ships more AI features, agent count grows → net-negative churn.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Price figures are hypotheses to validate in interviews.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GO-TO-MARKET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The champion bites for free; the CTO opens the wallet for COGS.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Landing: free Cost Autopsy report (off-path) → an AI / eng lead at an AI-native scaleup adopts bottom-up.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Conversion: at an incident or credit burn-out, the champion pitches the CTO paid → land with COGS &amp; margin reports.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Market order: Korea AI startups (free design partners / validation) → US AI-native scaleups (paid beachhead) → non-AI-native mid-market expansion (logistics-first).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Blocker pre-empt: to IT/legal — 'metadata only + cross-vendor independent audit.'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Customer development, not vanity metrics: 2 real screenings + 5 persona interviews — and how they sharpened the wedge.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2 real external screenings (async LinkedIn): a Lead ML Eng at a Korean AI-search scaleup (2 rounds) — build/buy splits cost structure; per-customer attribution needs deliberate data work = validates our wedge. A US seed agentic-platform founder (2 rounds) — anti-ICP by design (pre-PMF, growth-first) → sharpened our ICP floor.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35C9C9"/>
                </a:solidFill>
                <a:latin typeface="Calibri"/>
              </a:rPr>
              <a:t>▸  5 structured persona interviews (Mom-Test guide vs researched buyer personas): H0 (tool / external-API ≥ 15% of cost) survived 2/5, 1 missing, 1 negative (6%), 1 disqualified (B2C). Two independent 'LiteLLM can't attribute external APIs' cases surfaced.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'Disqualification data' is an asset — even anti-ICP screenings (the seed founder above; a B2C app) refined the ICP. How we sell = we don't sell to everyone.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Outreach live (Korea AI startups + US Top 5) — design-partner intros are exactly what we ask for on the final slide.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Target metric = net-negative churn (agent expansion).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Team Kyber — technology × customer development, a 2-person core.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Taewon — technology &amp; product (agent orchestration · infrastructure).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Jaemin (Malik) — CEO · customer development · GTM · research.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(Advisors &amp; design-partner relationships added as secured.)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Confirm role split — deck vs. memory mismatch on who is CEO; align before the pitch.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VISION ·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E8ECF1"/>
                </a:solidFill>
                <a:latin typeface="Calibri"/>
              </a:rPr>
              <a:t>As agents grow, revenue bends into a curve.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257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9AA7B4"/>
                </a:solidFill>
                <a:latin typeface="Calibri"/>
              </a:rPr>
              <a:t>▸  Revenue only (no cost/net income). Engine = new logos + agent expansion.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35C9C9"/>
                </a:solidFill>
                <a:latin typeface="Calibri"/>
              </a:rPr>
              <a:t>▸  Vision: in an age where autonomous software spends money, a world where every dollar is explainable.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F6B35"/>
                </a:solidFill>
                <a:latin typeface="Calibri"/>
              </a:rPr>
              <a:t>▸  Our ask isn't a check — it's connections: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35C9C9"/>
                </a:solidFill>
                <a:latin typeface="Calibri"/>
              </a:rPr>
              <a:t>▸  (a) AI / infra advisors to pressure-test the wedge  ·  (b) mid-market teams to onboard as design partners  ·  (c) warm intros to production-agent CTOs &amp; AI leads.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03720" y="5532120"/>
            <a:ext cx="4297680" cy="0"/>
          </a:xfrm>
          <a:prstGeom prst="bentConnector3">
            <a:avLst/>
          </a:prstGeom>
          <a:ln w="12700">
            <a:solidFill>
              <a:srgbClr val="9AA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903720" y="2514600"/>
            <a:ext cx="0" cy="3017520"/>
          </a:xfrm>
          <a:prstGeom prst="bentConnector3">
            <a:avLst/>
          </a:prstGeom>
          <a:ln w="12700">
            <a:solidFill>
              <a:srgbClr val="9AA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reeform 8"/>
          <p:cNvSpPr/>
          <p:nvPr/>
        </p:nvSpPr>
        <p:spPr>
          <a:xfrm>
            <a:off x="6903720" y="2514600"/>
            <a:ext cx="4297680" cy="3017520"/>
          </a:xfrm>
          <a:custGeom>
            <a:avLst/>
            <a:gdLst/>
            <a:ahLst/>
            <a:cxnLst/>
            <a:rect l="l" t="t" r="r" b="b"/>
            <a:pathLst>
              <a:path w="4297680" h="3017520">
                <a:moveTo>
                  <a:pt x="0" y="3017520"/>
                </a:moveTo>
                <a:lnTo>
                  <a:pt x="0" y="3017520"/>
                </a:lnTo>
                <a:lnTo>
                  <a:pt x="1432560" y="2866644"/>
                </a:lnTo>
                <a:lnTo>
                  <a:pt x="2865120" y="2168842"/>
                </a:lnTo>
                <a:lnTo>
                  <a:pt x="4297680" y="0"/>
                </a:lnTo>
                <a:lnTo>
                  <a:pt x="4297680" y="3017520"/>
                </a:lnTo>
                <a:close/>
              </a:path>
            </a:pathLst>
          </a:custGeom>
          <a:solidFill>
            <a:srgbClr val="123A40"/>
          </a:solidFill>
          <a:ln w="31750">
            <a:solidFill>
              <a:srgbClr val="35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55869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9AA7B4"/>
                </a:solidFill>
                <a:latin typeface="Calibri"/>
              </a:rPr>
              <a:t>Yr0</a:t>
            </a:r>
          </a:p>
        </p:txBody>
      </p:sp>
      <p:sp>
        <p:nvSpPr>
          <p:cNvPr id="11" name="Oval 10"/>
          <p:cNvSpPr/>
          <p:nvPr/>
        </p:nvSpPr>
        <p:spPr>
          <a:xfrm>
            <a:off x="8263128" y="5308092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59040" y="4960620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E8ECF1"/>
                </a:solidFill>
                <a:latin typeface="Calibri"/>
              </a:rPr>
              <a:t>$0.24M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87640" y="55869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9AA7B4"/>
                </a:solidFill>
                <a:latin typeface="Calibri"/>
              </a:rPr>
              <a:t>Yr1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200" y="58613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5C9C9"/>
                </a:solidFill>
                <a:latin typeface="Calibri"/>
              </a:rPr>
              <a:t>8 cust.</a:t>
            </a:r>
          </a:p>
        </p:txBody>
      </p:sp>
      <p:sp>
        <p:nvSpPr>
          <p:cNvPr id="15" name="Oval 14"/>
          <p:cNvSpPr/>
          <p:nvPr/>
        </p:nvSpPr>
        <p:spPr>
          <a:xfrm>
            <a:off x="9695688" y="4610290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91600" y="4262818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E8ECF1"/>
                </a:solidFill>
                <a:latin typeface="Calibri"/>
              </a:rPr>
              <a:t>$1.35M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20200" y="55869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9AA7B4"/>
                </a:solidFill>
                <a:latin typeface="Calibri"/>
              </a:rPr>
              <a:t>Yr2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8760" y="58613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5C9C9"/>
                </a:solidFill>
                <a:latin typeface="Calibri"/>
              </a:rPr>
              <a:t>45 cust.</a:t>
            </a:r>
          </a:p>
        </p:txBody>
      </p:sp>
      <p:sp>
        <p:nvSpPr>
          <p:cNvPr id="19" name="Oval 18"/>
          <p:cNvSpPr/>
          <p:nvPr/>
        </p:nvSpPr>
        <p:spPr>
          <a:xfrm>
            <a:off x="11128248" y="2441448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24160" y="2093976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E8ECF1"/>
                </a:solidFill>
                <a:latin typeface="Calibri"/>
              </a:rPr>
              <a:t>$4.8M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52760" y="55869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9AA7B4"/>
                </a:solidFill>
                <a:latin typeface="Calibri"/>
              </a:rPr>
              <a:t>Yr3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61320" y="58613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5C9C9"/>
                </a:solidFill>
                <a:latin typeface="Calibri"/>
              </a:rPr>
              <a:t>160 cust.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63550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F2C14E"/>
                </a:solidFill>
                <a:latin typeface="Calibri"/>
              </a:rPr>
              <a:t>ARR @ $30K ACV  ·  ⚠ strong-execution case (target NRR ~110%)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