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claim we make as 'the shift' is 'agents spend on their own' — observable, undeniable. Everything contentious is downgraded to ⚠ bets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Reframed 7/29: DON'T claim 'cost is invisible' — cloud logging shows the total. The real gap = per-feature/team/customer attribution + the 41% non-LLM spend nobody attributes. Numbers match the React demo for cross-consistency.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Placed as EVIDENCE of the 'loser,' not a personal hero story. Split acute (verified) vs. chronic (⚠ expansion bet). Source: why-now.md.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explicitly drop 'savings.' Savings appears later (slide 7) only as a by-product.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Ladder = our risk answer. Directly reflects the 'only OSS on the critical path' signal. Team-confirmed 7/23.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slide = embed the React demo (per-customer unit economics + real-time budget hard-limits + routing). Never use the 'kernel/C++' framing from the old Gemini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A-LED BLEND (CEO decision 8/3): sell to reachable AI-native scaleups now; ride the non-AI-native wave as expansion. Pre-empts 'just buy tokens' ($50K+ spend) &amp; 'build it yourself' — AI-native answer = buy-vs-build ROI + cross-vendor + audit-grade + peer-benchmark data they can't replicate; and the rebuttal structurally dies as we expand to non-AI-native (no AI-eng DNA). Source: ICP/ICP.md.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A-LED BLEND: near-term SOM = reachable AI-native scaleups (evidence + product coherence); the SLOPE = the far larger non-AI-native wave whose adoption curve is just starting → 3–4x by 2030 (they can't build it → ours to take). Never present the old LAM $80K as market size. We don't price on take-rate — sizing sanity check only. Source: Market/TAM-SAM-SOM.md.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Reframed 7/29: don't say rivals 'can't see cost' — they show totals. HONESTY: FinOps already sells per-unit attribution, but for cloud/infra spend, after-the-fact, not the agent execution path. Our differentiation = the intersection. SatGate pre-launch = timing validation, not absent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matrix. Row 1 (LLM tracking) = table stakes — everyone has it, shows honesty. Rows 2-5 = our wedge. Key: runaway loop detection = NOBODY. Don’t claim we’re the only ones attributing cost — FinOps does per-unit for cloud. Our intersection = rows 3+4+2 together. Source: Competitor-Analysis/기능-비교-매트릭스.md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Timeline: entry (free credit-countdown wedge) → differentiation (unit economics + unit-price catalog) → moat (simulation accuracy + benchmark).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DEFINITION for Q&amp;A: 'monitored agent' = a named, registered agent pipeline (not an API request, not an invocation). If judge asks 'what counts as one agent?' → 'Same as a Datadog host: each distinct AI workflow you deploy gets one Kyber agent registration.' This avoids the 'does traffic spike my bill?' objection. ACV $30K = median of competitor mid-market ACVs (deep research 7/28). Detail: Solution/가격-재무-딥리서치-2026-07.md.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Ladder steps 1→2→3 ARE the GTM expansion path. Beachhead = reachable AI-native scaleups (evidence + product coherence); non-AI-native mid-market (logistics-first) is the expansion where 'build it yourself' dies. Based on the stakeholder-map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for Q&amp;A: 2 real async LinkedIn screenings + 5 persona-based validations (role-play against researched personas) = 7 touchpoints; 0 formal live interviews yet. If asked 'were the 5 real people?' → answer straight: 'persona dry-runs of our Mom-Test guide to pressure-test H0 &amp; rebuttals before live outreach.' Do NOT imply they were live customers. Names are anonymized in this file (public repo, 7/23 confidentiality rule) — say the real identities on stage / keep them local-only, never in the deck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Roles RESOLVED (8/3): Taewon Kim = CEO (finance×CS, prior founder Nemo Scan, customer dev/GTM), Jaemin Yoo (Malik) = Co-founder / technical originator. Lead with founder-market fit — finance+CS is exactly the two lenses cost governance needs. ⚠ Jaemin's personal 'why us' line still TBD (per CEO).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goal = a 2nd meeting, not a precise forecast. THE ASK IS INTRODUCTIONS, NOT CAPITAL. Curve is credible but AGGRESSIVE (5.6x then 3.6x) — strong-execution case; NRR 110% = top-quartile target; ACV $30K = competitor-median validated. Don't raise a funding amount unless a judge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B222B"/>
                </a:solidFill>
                <a:latin typeface="Calibri"/>
              </a:rPr>
              <a:t>Kyber</a:t>
            </a: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0E8A8A"/>
                </a:solidFill>
                <a:latin typeface="Calibri"/>
              </a:rPr>
              <a:t>Make the cost of every AI agent explainable.</a:t>
            </a:r>
          </a:p>
          <a:p>
            <a:pPr algn="l">
              <a:spcBef>
                <a:spcPts val="2200"/>
              </a:spcBef>
            </a:pPr>
            <a:r>
              <a:rPr sz="2000" b="0" i="1">
                <a:solidFill>
                  <a:srgbClr val="1B222B"/>
                </a:solidFill>
                <a:latin typeface="Calibri"/>
              </a:rPr>
              <a:t>"Not CCTV after the fire — a breaker before it ignites."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5E6A76"/>
                </a:solidFill>
                <a:latin typeface="Calibri"/>
              </a:rPr>
              <a:t>Govern the LLM / tool / external-API cost agents burn on their own — on the execution path — and explain it, audit-grade.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943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A76"/>
                </a:solidFill>
                <a:latin typeface="Calibri"/>
              </a:rPr>
              <a:t>Team Kyber · 2026</a:t>
            </a:r>
          </a:p>
          <a:p>
            <a:pPr algn="l"/>
            <a:r>
              <a:rPr sz="1100" b="1" i="0">
                <a:solidFill>
                  <a:srgbClr val="EA5B2B"/>
                </a:solidFill>
                <a:latin typeface="Calibri"/>
              </a:rPr>
              <a:t>VERSION A — Pure Market Shift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THE SHIFT · THE SPINE (UNDENIABLE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The decider of AI spend has moved from humans to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Old world: cost is declared by the developer in code → predictable, controllable.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New world: the model itself decides which tool to call, when, and how many times → the spend trigger moves to the model.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Production-agent tokens ≈ 50× a chatbot. Finance has lost control.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E8A8A"/>
                </a:solidFill>
                <a:latin typeface="Calibri"/>
              </a:rPr>
              <a:t>▸  Why Now: someone has to solve this now, with or without us — Meta &amp; Uber already built their own gateways; SatGate pre-launched.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THE VILLAIN · LOSER'S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22B"/>
                </a:solidFill>
                <a:latin typeface="Calibri"/>
              </a:rPr>
              <a:t>The total is visible. The breakdown isn't.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B222B"/>
                </a:solidFill>
                <a:latin typeface="Calibri"/>
              </a:rPr>
              <a:t>▸  Cloud logging already shows the monthly total — that's not the gap. No one can break it down by feature / team / customer.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222B"/>
                </a:solidFill>
                <a:latin typeface="Calibri"/>
              </a:rPr>
              <a:t>▸  Observability = monthly, after-the-fact. Static keys &amp; caps = a blunt knife that can't tell normal from runaway.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E8A8A"/>
                </a:solidFill>
                <a:latin typeface="Calibri"/>
              </a:rPr>
              <a:t>▸  And tools see only up to the LLM call. Search, crawling, third-party APIs are off-screen — so true unit cost is never attributed.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0E8A8A"/>
                </a:solidFill>
                <a:latin typeface="Calibri"/>
              </a:rPr>
              <a:t>41%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22B"/>
                </a:solidFill>
                <a:latin typeface="Calibri"/>
              </a:rPr>
              <a:t>of COGS never touches a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4015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E6A76"/>
                </a:solidFill>
                <a:latin typeface="Calibri"/>
              </a:rPr>
              <a:t>It is tool &amp; retrieval spend token dashboards don't see.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4069080"/>
            <a:ext cx="2778404" cy="566928"/>
          </a:xfrm>
          <a:prstGeom prst="rect">
            <a:avLst/>
          </a:prstGeom>
          <a:solidFill>
            <a:srgbClr val="C4C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24924" y="4069080"/>
            <a:ext cx="1130198" cy="566928"/>
          </a:xfrm>
          <a:prstGeom prst="rect">
            <a:avLst/>
          </a:prstGeom>
          <a:solidFill>
            <a:srgbClr val="EA5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55122" y="4069080"/>
            <a:ext cx="800557" cy="5669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4937760"/>
            <a:ext cx="128016" cy="128016"/>
          </a:xfrm>
          <a:prstGeom prst="ellipse">
            <a:avLst/>
          </a:prstGeom>
          <a:solidFill>
            <a:srgbClr val="C4C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8920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22B"/>
                </a:solidFill>
                <a:latin typeface="Calibri"/>
              </a:rPr>
              <a:t>LLM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892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A76"/>
                </a:solidFill>
                <a:latin typeface="Calibri"/>
              </a:rPr>
              <a:t>59% · $68.8K</a:t>
            </a:r>
          </a:p>
        </p:txBody>
      </p:sp>
      <p:sp>
        <p:nvSpPr>
          <p:cNvPr id="16" name="Oval 15"/>
          <p:cNvSpPr/>
          <p:nvPr/>
        </p:nvSpPr>
        <p:spPr>
          <a:xfrm>
            <a:off x="6473952" y="5321808"/>
            <a:ext cx="128016" cy="128016"/>
          </a:xfrm>
          <a:prstGeom prst="ellipse">
            <a:avLst/>
          </a:prstGeom>
          <a:solidFill>
            <a:srgbClr val="EA5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527608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22B"/>
                </a:solidFill>
                <a:latin typeface="Calibri"/>
              </a:rPr>
              <a:t>Search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27608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A76"/>
                </a:solidFill>
                <a:latin typeface="Calibri"/>
              </a:rPr>
              <a:t>24% · $27.9K</a:t>
            </a:r>
          </a:p>
        </p:txBody>
      </p:sp>
      <p:sp>
        <p:nvSpPr>
          <p:cNvPr id="19" name="Oval 18"/>
          <p:cNvSpPr/>
          <p:nvPr/>
        </p:nvSpPr>
        <p:spPr>
          <a:xfrm>
            <a:off x="6473952" y="5705856"/>
            <a:ext cx="128016" cy="128016"/>
          </a:xfrm>
          <a:prstGeom prst="ellipse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6601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22B"/>
                </a:solidFill>
                <a:latin typeface="Calibri"/>
              </a:rPr>
              <a:t>External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6601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E6A76"/>
                </a:solidFill>
                <a:latin typeface="Calibri"/>
              </a:rPr>
              <a:t>17% · $20.0K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6172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E8A8A"/>
                </a:solidFill>
                <a:latin typeface="Calibri"/>
              </a:rPr>
              <a:t>Search + DB = $47.8K nobody attributes to the agent that spent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REAL PAIN · EVIDENCE, NOT A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The problem isn't 'we don't know how much' — it's 'we can't explain why.'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Acute (verified wedge): one dev, an infinite retry loop → $47K billed, unnoticed for 11 days. A B2B SaaS: API usage +400% overnight.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▸  At enterprise scale, control failure = hundreds of millions/yr.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Redefinition: the spike is just the trigger. The real loss = even after the incident, no answer to 'cost per customer / which feature eats the margin.'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B5820A"/>
                </a:solidFill>
                <a:latin typeface="Calibri"/>
              </a:rPr>
              <a:t>▸  ⚠  Chronic (always-on COGS explanation) = an expansion hypothesis we are validating in interviews.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THE PROMISED LAND · THE WINNER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You become a company that can explain AI cost per customer &amp; per feature —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E8A8A"/>
                </a:solidFill>
                <a:latin typeface="Calibri"/>
              </a:rPr>
              <a:t>▸  'We cut your AI bill' ✗ → 'We let you explain your AI unit cost' ✓.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Pricing, the board, and due diligence become real-time numbers instead of guesses.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VEHICLE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A layer that attributes and controls cost — on the execution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Logging gives you the total; we give you the breakdown. We attribute &amp; govern every LLM + tool + external-API call at request time — per feature / team / customer.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E8A8A"/>
                </a:solidFill>
                <a:latin typeface="Calibri"/>
              </a:rPr>
              <a:t>▸  "Not CCTV after the fire — a breaker before it ignites." Block before execution + audit-grade reason for the block.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Enter via a Trust Ladder: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     –  Step 1 — off-path reports (no proxy)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     –  Step 2 — async policy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     –  Step 3 — block inside the customer-owned gateway (we never own the path)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HOW IT WORKS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Three mechanisms — all in service of real-time cost attribution &amp;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1. Inline policy engine — evaluate &amp; block per session / customer / feature budget BEFORE execution. Block reason to an audit log. (SPOF/latency handled via sidecar, async, bypass.)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2. Semantic usage attribution — tag every call request → agent step → LLM / tool / external API. Keep a non-LLM unit-price catalog to sum true total cost.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▸  3. Dynamic model routing (by-product) — route by complexity, save with no quality loss. Mentioned only as a bonus (public technique = not a moat).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CUSTOMER · WHO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Sell to the AI-native scaleups we reach now — ride the non-AI-native wave that can't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Beachhead (paid now): AI-native scaleup B2B — $50K–$500K/mo AI spend, 50–300 people, Series A–C, high tool / external-API share. They own their execution path → our pre-execution control fits, and they're reachable for design partners.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E8A8A"/>
                </a:solidFill>
                <a:latin typeface="Calibri"/>
              </a:rPr>
              <a:t>▸  Why start here: this is where our evidence, demo &amp; first real signal (an ML lead at an AI-search company) already point — and where the product coheres end to end.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Expansion wave: non-AI-native mid-market in AX (logistics, manufacturing, finance) — $100K+/mo, 3+ vendors. No AI-engineering DNA → structurally can't build → the 'build it yourself' rebuttal dies, and the population dwarfs AI-natives.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▸  Buyer = CTO (economic), champion = AI / data-ops lead, finance = influencer. Per-customer COGS = a B2B need (customer = contract). Korea AI startups = free design partners.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B5820A"/>
                </a:solidFill>
                <a:latin typeface="Calibri"/>
              </a:rPr>
              <a:t>▸  ⚠  Bet, not fact: spend threshold, buyer, and the non-AI-native 'can't build' claim = validating in interviews.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MARKET · TAM / SAM /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22B"/>
                </a:solidFill>
                <a:latin typeface="Calibri"/>
              </a:rPr>
              <a:t>Beachhead = reachable AI-native scaleups. Slope = the non-AI-native wave that can't build it. Bet the slope.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222B"/>
                </a:solidFill>
                <a:latin typeface="Calibri"/>
              </a:rPr>
              <a:t>▸  TAM ≈ $0.5–1.5B (2026) → $2–6B (2030): 1–2% of $50–60B enterprise GenAI spend (top-down, segment-agnostic; FinOps take-rate anchor). CAGR ~20%.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B222B"/>
                </a:solidFill>
                <a:latin typeface="Calibri"/>
              </a:rPr>
              <a:t>▸  SAM ≈ $0.24–0.45B → $0.8–1.8B: ICP-matching firms × ACV $30K — AI-native scaleups now, plus non-AI-native mid-market as it scales.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E8A8A"/>
                </a:solidFill>
                <a:latin typeface="Calibri"/>
              </a:rPr>
              <a:t>▸  SOM (3yr) ≈ $1.0–3.6M ARR: reachable AI-native beachhead (Korea design partners → US paid), expanding into non-AI-native adjacents.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B5820A"/>
                </a:solidFill>
                <a:latin typeface="Calibri"/>
              </a:rPr>
              <a:t>▸  ⚠  SAM population = hypothesis, refined by interview screening pass-rate.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2103120"/>
            <a:ext cx="4114800" cy="4114800"/>
          </a:xfrm>
          <a:prstGeom prst="ellipse">
            <a:avLst/>
          </a:prstGeom>
          <a:solidFill>
            <a:srgbClr val="EAF0F2"/>
          </a:solidFill>
          <a:ln w="15875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83780" y="2811780"/>
            <a:ext cx="2697480" cy="2697480"/>
          </a:xfrm>
          <a:prstGeom prst="ellipse">
            <a:avLst/>
          </a:prstGeom>
          <a:solidFill>
            <a:srgbClr val="CFE9E9"/>
          </a:solidFill>
          <a:ln w="127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15300" y="3543300"/>
            <a:ext cx="1234440" cy="1234440"/>
          </a:xfrm>
          <a:prstGeom prst="ellipse">
            <a:avLst/>
          </a:prstGeom>
          <a:solidFill>
            <a:srgbClr val="EA5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3317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8A8A"/>
                </a:solidFill>
                <a:latin typeface="Calibri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22B"/>
                </a:solidFill>
                <a:latin typeface="Calibri"/>
              </a:rPr>
              <a:t>$0.5–1.5B 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222B"/>
                </a:solidFill>
                <a:latin typeface="Calibri"/>
              </a:rPr>
              <a:t>SAM  $0.24–0.45B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9136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224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$1.0–3.6M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6172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A76"/>
                </a:solidFill>
                <a:latin typeface="Calibri"/>
              </a:rPr>
              <a:t>3-yr, not to scale  ·  main lens = governed AI spend × ~1–2% take-rate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22B"/>
                </a:solidFill>
                <a:latin typeface="Calibri"/>
              </a:rPr>
              <a:t>Two axes: after-the-fact vs. pre-execution × total visibility vs. audit-grade attribution.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B222B"/>
                </a:solidFill>
                <a:latin typeface="Calibri"/>
              </a:rPr>
              <a:t>▸  Showing the total is table stakes — logging, observability &amp; billing all do 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E8A8A"/>
                </a:solidFill>
                <a:latin typeface="Calibri"/>
              </a:rPr>
              <a:t>▸  The gap = attributing the agent's full cost per feature / team / customer, audit-grade, before execution.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222B"/>
                </a:solidFill>
                <a:latin typeface="Calibri"/>
              </a:rPr>
              <a:t>▸  FinOps (CloudZero · Vantage) does per-unit attribution — but for cloud spend, after-the-fact, off the agent path.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1B222B"/>
                </a:solidFill>
                <a:latin typeface="Calibri"/>
              </a:rPr>
              <a:t>▸  Our square — pre-execution × audit-grade attribution. Nobody occupies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2331720"/>
            <a:ext cx="2011680" cy="1600200"/>
          </a:xfrm>
          <a:prstGeom prst="rect">
            <a:avLst/>
          </a:prstGeom>
          <a:solidFill>
            <a:srgbClr val="D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03720" y="3931920"/>
            <a:ext cx="4023360" cy="0"/>
          </a:xfrm>
          <a:prstGeom prst="bentConnector3">
            <a:avLst/>
          </a:prstGeom>
          <a:ln w="15875">
            <a:solidFill>
              <a:srgbClr val="5E6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15400" y="2331720"/>
            <a:ext cx="0" cy="3200400"/>
          </a:xfrm>
          <a:prstGeom prst="bentConnector3">
            <a:avLst/>
          </a:prstGeom>
          <a:ln w="15875">
            <a:solidFill>
              <a:srgbClr val="5E6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0" y="37673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A76"/>
                </a:solidFill>
                <a:latin typeface="Calibri"/>
              </a:rPr>
              <a:t>After-the-fact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376732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E6A76"/>
                </a:solidFill>
                <a:latin typeface="Calibri"/>
              </a:rPr>
              <a:t>Pre-execution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0208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E8A8A"/>
                </a:solidFill>
                <a:latin typeface="Calibri"/>
              </a:rPr>
              <a:t>Audit-grade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5595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A76"/>
                </a:solidFill>
                <a:latin typeface="Calibri"/>
              </a:rPr>
              <a:t>Total visibility only</a:t>
            </a:r>
          </a:p>
        </p:txBody>
      </p:sp>
      <p:sp>
        <p:nvSpPr>
          <p:cNvPr id="14" name="Oval 13"/>
          <p:cNvSpPr/>
          <p:nvPr/>
        </p:nvSpPr>
        <p:spPr>
          <a:xfrm>
            <a:off x="7563916" y="4764024"/>
            <a:ext cx="128016" cy="128016"/>
          </a:xfrm>
          <a:prstGeom prst="ellipse">
            <a:avLst/>
          </a:prstGeom>
          <a:solidFill>
            <a:srgbClr val="5E6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5940" y="468172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B222B"/>
                </a:solidFill>
                <a:latin typeface="Calibri"/>
              </a:rPr>
              <a:t>Langfuse · Helicone</a:t>
            </a:r>
          </a:p>
        </p:txBody>
      </p:sp>
      <p:sp>
        <p:nvSpPr>
          <p:cNvPr id="16" name="Oval 15"/>
          <p:cNvSpPr/>
          <p:nvPr/>
        </p:nvSpPr>
        <p:spPr>
          <a:xfrm>
            <a:off x="7242048" y="5276088"/>
            <a:ext cx="128016" cy="128016"/>
          </a:xfrm>
          <a:prstGeom prst="ellipse">
            <a:avLst/>
          </a:prstGeom>
          <a:solidFill>
            <a:srgbClr val="5E6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519379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B222B"/>
                </a:solidFill>
                <a:latin typeface="Calibri"/>
              </a:rPr>
              <a:t>Logs · scripts</a:t>
            </a:r>
          </a:p>
        </p:txBody>
      </p:sp>
      <p:sp>
        <p:nvSpPr>
          <p:cNvPr id="18" name="Oval 17"/>
          <p:cNvSpPr/>
          <p:nvPr/>
        </p:nvSpPr>
        <p:spPr>
          <a:xfrm>
            <a:off x="7805318" y="3099816"/>
            <a:ext cx="128016" cy="128016"/>
          </a:xfrm>
          <a:prstGeom prst="ellipse">
            <a:avLst/>
          </a:prstGeom>
          <a:solidFill>
            <a:srgbClr val="5E6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7342" y="301752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B222B"/>
                </a:solidFill>
                <a:latin typeface="Calibri"/>
              </a:rPr>
              <a:t>CloudZero · Vantage*</a:t>
            </a:r>
          </a:p>
        </p:txBody>
      </p:sp>
      <p:sp>
        <p:nvSpPr>
          <p:cNvPr id="20" name="Oval 19"/>
          <p:cNvSpPr/>
          <p:nvPr/>
        </p:nvSpPr>
        <p:spPr>
          <a:xfrm>
            <a:off x="9736531" y="4956048"/>
            <a:ext cx="128016" cy="128016"/>
          </a:xfrm>
          <a:prstGeom prst="ellipse">
            <a:avLst/>
          </a:prstGeom>
          <a:solidFill>
            <a:srgbClr val="5E6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0571" y="487375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B222B"/>
                </a:solidFill>
                <a:latin typeface="Calibri"/>
              </a:rPr>
              <a:t>LiteLLM · Portkey</a:t>
            </a:r>
          </a:p>
        </p:txBody>
      </p:sp>
      <p:sp>
        <p:nvSpPr>
          <p:cNvPr id="22" name="Oval 21"/>
          <p:cNvSpPr/>
          <p:nvPr/>
        </p:nvSpPr>
        <p:spPr>
          <a:xfrm>
            <a:off x="9816998" y="2907792"/>
            <a:ext cx="128016" cy="128016"/>
          </a:xfrm>
          <a:prstGeom prst="ellipse">
            <a:avLst/>
          </a:prstGeom>
          <a:solidFill>
            <a:srgbClr val="B5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1038" y="282549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5820A"/>
                </a:solidFill>
                <a:latin typeface="Calibri"/>
              </a:rPr>
              <a:t>SatGate (pre-launch)</a:t>
            </a:r>
          </a:p>
        </p:txBody>
      </p:sp>
      <p:sp>
        <p:nvSpPr>
          <p:cNvPr id="24" name="Oval 23"/>
          <p:cNvSpPr/>
          <p:nvPr/>
        </p:nvSpPr>
        <p:spPr>
          <a:xfrm>
            <a:off x="10352836" y="2496312"/>
            <a:ext cx="182880" cy="182880"/>
          </a:xfrm>
          <a:prstGeom prst="ellipse">
            <a:avLst/>
          </a:prstGeom>
          <a:solidFill>
            <a:srgbClr val="EA5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4308" y="244144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A5B2B"/>
                </a:solidFill>
                <a:latin typeface="Calibri"/>
              </a:rPr>
              <a:t>Kyber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61996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E6A76"/>
                </a:solidFill>
                <a:latin typeface="Calibri"/>
              </a:rPr>
              <a:t>*FinOps attributes cloud spend — off the agent path, after-the-fact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WHY KYBER ·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22B"/>
                </a:solidFill>
                <a:latin typeface="Calibri"/>
              </a:rPr>
              <a:t>Every competitor stops short on at least one axis. We don’t.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2560320" cy="53035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4680" y="1920240"/>
            <a:ext cx="1691640" cy="53035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A76"/>
                </a:solidFill>
                <a:latin typeface="Calibri"/>
              </a:rPr>
              <a:t>Langfuse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920240"/>
            <a:ext cx="1691640" cy="53035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A76"/>
                </a:solidFill>
                <a:latin typeface="Calibri"/>
              </a:rPr>
              <a:t>CloudZero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920240"/>
            <a:ext cx="1691640" cy="53035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A76"/>
                </a:solidFill>
                <a:latin typeface="Calibri"/>
              </a:rPr>
              <a:t>LiteLLM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1691640" cy="530352"/>
          </a:xfrm>
          <a:prstGeom prst="rect">
            <a:avLst/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E6A76"/>
                </a:solidFill>
                <a:latin typeface="Calibri"/>
              </a:rPr>
              <a:t>SatGate 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1920240"/>
            <a:ext cx="1691640" cy="530352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Kyber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450592"/>
            <a:ext cx="256032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450592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22B"/>
                </a:solidFill>
                <a:latin typeface="Calibri"/>
              </a:rPr>
              <a:t>LLM cost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2450592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E8A8A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450592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E8A8A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450592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E8A8A"/>
                </a:solidFill>
                <a:latin typeface="Calibr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450592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5820A"/>
                </a:solidFill>
                <a:latin typeface="Calibri"/>
              </a:rPr>
              <a:t>~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2450592"/>
            <a:ext cx="1691640" cy="530352"/>
          </a:xfrm>
          <a:prstGeom prst="rect">
            <a:avLst/>
          </a:prstGeom>
          <a:solidFill>
            <a:srgbClr val="DD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A5B2B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80944"/>
            <a:ext cx="256032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2980944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22B"/>
                </a:solidFill>
                <a:latin typeface="Calibri"/>
              </a:rPr>
              <a:t>Pre-execution blocking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980944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980944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2980944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E8A8A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980944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5820A"/>
                </a:solidFill>
                <a:latin typeface="Calibri"/>
              </a:rPr>
              <a:t>~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1240" y="2980944"/>
            <a:ext cx="1691640" cy="530352"/>
          </a:xfrm>
          <a:prstGeom prst="rect">
            <a:avLst/>
          </a:prstGeom>
          <a:solidFill>
            <a:srgbClr val="DD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A5B2B"/>
                </a:solidFill>
                <a:latin typeface="Calibr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511296"/>
            <a:ext cx="256032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3511296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22B"/>
                </a:solidFill>
                <a:latin typeface="Calibri"/>
              </a:rPr>
              <a:t>Non-LLM tool attribution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3511296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5468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5820A"/>
                </a:solidFill>
                <a:latin typeface="Calibri"/>
              </a:rPr>
              <a:t>~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3511296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3511296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3511296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5820A"/>
                </a:solidFill>
                <a:latin typeface="Calibri"/>
              </a:rPr>
              <a:t>~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21240" y="3511296"/>
            <a:ext cx="1691640" cy="530352"/>
          </a:xfrm>
          <a:prstGeom prst="rect">
            <a:avLst/>
          </a:prstGeom>
          <a:solidFill>
            <a:srgbClr val="DD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A5B2B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4041648"/>
            <a:ext cx="256032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" y="4041648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22B"/>
                </a:solidFill>
                <a:latin typeface="Calibri"/>
              </a:rPr>
              <a:t>Per-customer COGS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041648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5468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4041648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5820A"/>
                </a:solidFill>
                <a:latin typeface="Calibri"/>
              </a:rPr>
              <a:t>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4041648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041648"/>
            <a:ext cx="1691640" cy="530352"/>
          </a:xfrm>
          <a:prstGeom prst="rect">
            <a:avLst/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B5820A"/>
                </a:solidFill>
                <a:latin typeface="Calibri"/>
              </a:rPr>
              <a:t>~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21240" y="4041648"/>
            <a:ext cx="1691640" cy="530352"/>
          </a:xfrm>
          <a:prstGeom prst="rect">
            <a:avLst/>
          </a:prstGeom>
          <a:solidFill>
            <a:srgbClr val="DD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A5B2B"/>
                </a:solidFill>
                <a:latin typeface="Calibr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4572000"/>
            <a:ext cx="256032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" y="4572000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22B"/>
                </a:solidFill>
                <a:latin typeface="Calibri"/>
              </a:rPr>
              <a:t>Runaway loop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54680" y="4572000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5468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4572000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4572000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3796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4572000"/>
            <a:ext cx="1691640" cy="53035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E6A76"/>
                </a:solidFill>
                <a:latin typeface="Calibri"/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21240" y="4572000"/>
            <a:ext cx="1691640" cy="530352"/>
          </a:xfrm>
          <a:prstGeom prst="rect">
            <a:avLst/>
          </a:prstGeom>
          <a:solidFill>
            <a:srgbClr val="DD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2124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A5B2B"/>
                </a:solidFill>
                <a:latin typeface="Calibr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51937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E6A76"/>
                </a:solidFill>
                <a:latin typeface="Calibri"/>
              </a:rPr>
              <a:t>❂ SatGate = pre-launch  ·  ~ = partial / claimed  ·  Langfuse = Langfuse/Helicone  ·  CloudZero = CloudZero/Vantage  ·  source: public docs 2026-07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What gets copied is features. What can't be caught up is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▸  Caching, routing, hard-limits = replicable in 6 months. Not a moat.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Moat = things that get stronger as customer data accumulates: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     –  1. Unit-economics accuracy gap — more traffic → sharper runaway detection &amp; cost simulation. Followers start from zero data.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     –  2. Peer benchmark (lagging) — 'top 20% cost-per-request vs. your peer type.' Scales with customer count; structurally impossible for latecomers.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E8A8A"/>
                </a:solidFill>
                <a:latin typeface="Calibri"/>
              </a:rPr>
              <a:t>▸  Once this cost view is embedded in pricing &amp; board routines, switching cost spikes.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BUSINESS MODEL ·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A company that sells cost does not earn in proportion to the customer's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Spend-proportional pricing ✗ (conflicts with the savings incentive). Price on monitored agents — not API calls, not spend.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E8A8A"/>
                </a:solidFill>
                <a:latin typeface="Calibri"/>
              </a:rPr>
              <a:t>▸  1 monitored agent = 1 distinct AI feature pipeline deployed in production (e.g., 'search-agent', 'summarizer', 'onboarding-bot'). Analogous to Datadog's per-host or APM per-service.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3 tiers: Free → Growth ~$18K/yr (automated COGS report) → Enterprise ~$60K/yr (audit-grade + in-path blocking). Blended ACV ~$30K.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▸  Anchored in comps: LLM observability $5–25K &lt; us $30K &lt; cloud FinOps $30–130K. Precedents: Agentforce per-agent, Datadog per-host.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E8A8A"/>
                </a:solidFill>
                <a:latin typeface="Calibri"/>
              </a:rPr>
              <a:t>▸  Expansion = as the customer ships more AI features, agent count grows → net-negative churn.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B5820A"/>
                </a:solidFill>
                <a:latin typeface="Calibri"/>
              </a:rPr>
              <a:t>▸  ⚠  Price figures are hypotheses to validate in interviews.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The champion bites for free; the CTO opens the wallet for COGS.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Landing: free Cost Autopsy report (off-path) → an AI / eng lead at an AI-native scaleup adopts bottom-up.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Conversion: at an incident or credit burn-out, the champion pitches the CTO paid → land with COGS &amp; margin reports.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E8A8A"/>
                </a:solidFill>
                <a:latin typeface="Calibri"/>
              </a:rPr>
              <a:t>▸  Market order: Korea AI startups (free design partners / validation) → US AI-native scaleups (paid beachhead) → non-AI-native mid-market expansion (logistics-first).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Blocker pre-empt: to IT/legal — 'metadata only + cross-vendor independent audit.'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Customer development, not vanity metrics: 2 real screenings + 5 persona interviews — and how they sharpened the wedge.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2 real external screenings (async LinkedIn): a Lead ML Eng at a Korean AI-search scaleup (2 rounds) — build/buy splits cost structure; per-customer attribution needs deliberate data work = validates our wedge. A US seed agentic-platform founder (2 rounds) — anti-ICP by design (pre-PMF, growth-first) → sharpened our ICP floor.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E8A8A"/>
                </a:solidFill>
                <a:latin typeface="Calibri"/>
              </a:rPr>
              <a:t>▸  5 structured persona interviews (Mom-Test guide vs researched buyer personas): H0 (tool / external-API ≥ 15% of cost) survived 2/5, 1 missing, 1 negative (6%), 1 disqualified (B2C). Two independent 'LiteLLM can't attribute external APIs' cases surfaced.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▸  'Disqualification data' is an asset — even anti-ICP screenings (the seed founder above; a B2C app) refined the ICP. How we sell = we don't sell to everyone.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Outreach live (Korea AI startups + US Top 5) — design-partner intros are exactly what we ask for on the final slide.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Target metric = net-negative churn (agent expansion).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22B"/>
                </a:solidFill>
                <a:latin typeface="Calibri"/>
              </a:rPr>
              <a:t>Team Kyber — a founder who reads both the P&amp;L and the call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B222B"/>
                </a:solidFill>
                <a:latin typeface="Calibri"/>
              </a:rPr>
              <a:t>▸  Taewon Kim — CEO. Finance × Computer Science double major → reads AI cost as a financial P&amp;L AND understands the agent call system that generates it = founder-market fit for cost governance.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E8A8A"/>
                </a:solidFill>
                <a:latin typeface="Calibri"/>
              </a:rPr>
              <a:t>▸  Prior founder — ran 'Nemo Scan', a book-scanning venture, through the full startup cycle. Not a first-timer.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B222B"/>
                </a:solidFill>
                <a:latin typeface="Calibri"/>
              </a:rPr>
              <a:t>▸  Jaemin Yoo (Malik) — Co-founder · technical originator.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5E6A76"/>
                </a:solidFill>
                <a:latin typeface="Calibri"/>
              </a:rPr>
              <a:t>▸  (Advisors &amp; design-partner relationships added as secured.)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EA5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8A8A"/>
                </a:solidFill>
                <a:latin typeface="Calibri"/>
              </a:rPr>
              <a:t>VISION ·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E6A76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22B"/>
                </a:solidFill>
                <a:latin typeface="Calibri"/>
              </a:rPr>
              <a:t>As agents grow, revenue bends into a curve.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5E6A76"/>
                </a:solidFill>
                <a:latin typeface="Calibri"/>
              </a:rPr>
              <a:t>▸  Revenue only (no cost/net income). Engine = new logos + agent expansion.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E8A8A"/>
                </a:solidFill>
                <a:latin typeface="Calibri"/>
              </a:rPr>
              <a:t>▸  Vision: in an age where autonomous software spends money, a world where every dollar is explainable.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A5B2B"/>
                </a:solidFill>
                <a:latin typeface="Calibri"/>
              </a:rPr>
              <a:t>▸  Our ask isn't a check — it's connections: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E8A8A"/>
                </a:solidFill>
                <a:latin typeface="Calibri"/>
              </a:rPr>
              <a:t>▸  (a) AI / infra advisors to pressure-test the wedge  ·  (b) mid-market teams to onboard as design partners  ·  (c) warm intros to production-agent CTOs &amp; AI leads.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03720" y="5532120"/>
            <a:ext cx="4297680" cy="0"/>
          </a:xfrm>
          <a:prstGeom prst="bentConnector3">
            <a:avLst/>
          </a:prstGeom>
          <a:ln w="12700">
            <a:solidFill>
              <a:srgbClr val="5E6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03720" y="2514600"/>
            <a:ext cx="0" cy="3017520"/>
          </a:xfrm>
          <a:prstGeom prst="bentConnector3">
            <a:avLst/>
          </a:prstGeom>
          <a:ln w="12700">
            <a:solidFill>
              <a:srgbClr val="5E6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903720" y="2514600"/>
            <a:ext cx="4297680" cy="3017520"/>
          </a:xfrm>
          <a:custGeom>
            <a:avLst/>
            <a:gdLst/>
            <a:ahLst/>
            <a:cxnLst/>
            <a:rect l="l" t="t" r="r" b="b"/>
            <a:pathLst>
              <a:path w="4297680" h="3017520">
                <a:moveTo>
                  <a:pt x="0" y="3017520"/>
                </a:moveTo>
                <a:lnTo>
                  <a:pt x="0" y="3017520"/>
                </a:lnTo>
                <a:lnTo>
                  <a:pt x="1432560" y="2866644"/>
                </a:lnTo>
                <a:lnTo>
                  <a:pt x="2865120" y="2168842"/>
                </a:lnTo>
                <a:lnTo>
                  <a:pt x="4297680" y="0"/>
                </a:lnTo>
                <a:lnTo>
                  <a:pt x="4297680" y="3017520"/>
                </a:lnTo>
                <a:close/>
              </a:path>
            </a:pathLst>
          </a:custGeom>
          <a:solidFill>
            <a:srgbClr val="D6EFEF"/>
          </a:solidFill>
          <a:ln w="3175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6A76"/>
                </a:solidFill>
                <a:latin typeface="Calibri"/>
              </a:rPr>
              <a:t>Yr0</a:t>
            </a:r>
          </a:p>
        </p:txBody>
      </p:sp>
      <p:sp>
        <p:nvSpPr>
          <p:cNvPr id="11" name="Oval 10"/>
          <p:cNvSpPr/>
          <p:nvPr/>
        </p:nvSpPr>
        <p:spPr>
          <a:xfrm>
            <a:off x="8263128" y="5308092"/>
            <a:ext cx="146304" cy="146304"/>
          </a:xfrm>
          <a:prstGeom prst="ellipse">
            <a:avLst/>
          </a:prstGeom>
          <a:solidFill>
            <a:srgbClr val="EA5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9040" y="49606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222B"/>
                </a:solidFill>
                <a:latin typeface="Calibri"/>
              </a:rPr>
              <a:t>$0.24M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764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6A76"/>
                </a:solidFill>
                <a:latin typeface="Calibri"/>
              </a:rPr>
              <a:t>Yr1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200" y="5861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E8A8A"/>
                </a:solidFill>
                <a:latin typeface="Calibri"/>
              </a:rPr>
              <a:t>8 cust.</a:t>
            </a:r>
          </a:p>
        </p:txBody>
      </p:sp>
      <p:sp>
        <p:nvSpPr>
          <p:cNvPr id="15" name="Oval 14"/>
          <p:cNvSpPr/>
          <p:nvPr/>
        </p:nvSpPr>
        <p:spPr>
          <a:xfrm>
            <a:off x="9695688" y="4610290"/>
            <a:ext cx="146304" cy="146304"/>
          </a:xfrm>
          <a:prstGeom prst="ellipse">
            <a:avLst/>
          </a:prstGeom>
          <a:solidFill>
            <a:srgbClr val="EA5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1600" y="426281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222B"/>
                </a:solidFill>
                <a:latin typeface="Calibri"/>
              </a:rPr>
              <a:t>$1.35M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6A76"/>
                </a:solidFill>
                <a:latin typeface="Calibri"/>
              </a:rPr>
              <a:t>Yr2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8760" y="5861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E8A8A"/>
                </a:solidFill>
                <a:latin typeface="Calibri"/>
              </a:rPr>
              <a:t>45 cust.</a:t>
            </a:r>
          </a:p>
        </p:txBody>
      </p:sp>
      <p:sp>
        <p:nvSpPr>
          <p:cNvPr id="19" name="Oval 18"/>
          <p:cNvSpPr/>
          <p:nvPr/>
        </p:nvSpPr>
        <p:spPr>
          <a:xfrm>
            <a:off x="11128248" y="2441448"/>
            <a:ext cx="146304" cy="146304"/>
          </a:xfrm>
          <a:prstGeom prst="ellipse">
            <a:avLst/>
          </a:prstGeom>
          <a:solidFill>
            <a:srgbClr val="EA5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093976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222B"/>
                </a:solidFill>
                <a:latin typeface="Calibri"/>
              </a:rPr>
              <a:t>$4.8M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E6A76"/>
                </a:solidFill>
                <a:latin typeface="Calibri"/>
              </a:rPr>
              <a:t>Yr3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5861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E8A8A"/>
                </a:solidFill>
                <a:latin typeface="Calibri"/>
              </a:rPr>
              <a:t>160 cust.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6355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B5820A"/>
                </a:solidFill>
                <a:latin typeface="Calibri"/>
              </a:rPr>
              <a:t>ARR @ $30K ACV  ·  ⚠ strong-execution case (target NRR ~110%)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