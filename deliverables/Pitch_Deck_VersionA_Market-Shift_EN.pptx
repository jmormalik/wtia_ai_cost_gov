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43"/>
  </p:normalViewPr>
  <p:slideViewPr>
    <p:cSldViewPr snapToGrid="0" snapToObjects="1">
      <p:cViewPr varScale="1">
        <p:scale>
          <a:sx n="115" d="100"/>
          <a:sy n="115" d="100"/>
        </p:scale>
        <p:origin x="376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013EF8-CC54-AF43-823A-5777066FE569}" type="datetimeFigureOut">
              <a:rPr kumimoji="1" lang="ko-KR" altLang="en-US" smtClean="0"/>
              <a:t>2026. 7. 31.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23CD62-584F-ED41-80CB-4AAD51C3D39F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808546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ONLY claim we make as 'the shift' is 'agents spend on their own' — observable, undeniable. Everything contentious is downgraded to ⚠ bets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Reframed 7/29: DON'T claim 'cost is invisible' — cloud logging shows the total. The real gap = per-feature/team/customer attribution + the 41% non-LLM spend nobody attributes. Numbers match the React demo for cross-consistency.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Placed as EVIDENCE of the 'loser,' not a personal hero story. Split acute (verified) vs. chronic (⚠ expansion bet). Source: why-now.md.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Here we explicitly drop 'savings.' Savings appears later (slide 7) only as a by-product.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Trust Ladder = our risk answer. Directly reflects the 'only OSS on the critical path' signal. Team-confirmed 7/23.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 slide = embed the React demo (per-customer unit economics + real-time budget hard-limits + routing). Never use the 'kernel/C++' framing from the old Gemini draft.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slide pre-empts two rebuttals ('just buy tokens' / 'build it yourself'). Label the 'can't build' load-bearing claim as a ⚠ falsifiable bet, and pre-empt the Liner counter — 'estimable ≠ audit-grade attribution'. B2B/per-customer rationale added 7/29.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Never present the old LAM $80K as market size. Take-rate anchor CORRECTED to ~1-2% (deep research 7/28). We don't price on take-rate (per-agent) — it's a market-sizing sanity check only. Source: Market/TAM-SAM-SOM.md.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Reframed 7/29: don't say rivals 'can't see cost' — they show totals. HONESTY: FinOps already sells per-unit attribution, but for cloud/infra spend, after-the-fact, not the agent execution path. Our differentiation = the intersection. SatGate pre-launch = timing validation, not absent demand.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Timeline: entry (free credit-countdown wedge) → differentiation (unit economics + unit-price catalog) → moat (simulation accuracy + benchmark).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'Flat or usage?' → 'Subscription-led, but the usage axis is agent count, not spend.' ACV $30K = median of competitor mid-market ACVs (deep research 7/28). Detail: Solution/가격-재무-딥리서치-2026-07.md.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Trust Ladder steps 1→2→3 ARE the GTM expansion path. Based on the stakeholder-map action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Don't hide the 0 formal interviews — frame as 'building pricing on data.' Fill with real interview/design-partner counts before 8/6.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Keep it short. One line on 'why us' to be filled by the team. Resolve the Team-slide role inconsistency before the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Finance goal = a 2nd meeting, not a precise forecast. THE ASK IS INTRODUCTIONS, NOT CAPITAL. Curve is credible but AGGRESSIVE (5.6x then 3.6x) — strong-execution case; NRR 110% = top-quartile target; ACV $30K = competitor-median validated. Don't raise a funding amount unless a judge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331720"/>
            <a:ext cx="320040" cy="2194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19456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E8ECF1"/>
                </a:solidFill>
                <a:latin typeface="Calibri"/>
              </a:rPr>
              <a:t>Kyber</a:t>
            </a:r>
          </a:p>
          <a:p>
            <a:pPr algn="l">
              <a:spcBef>
                <a:spcPts val="600"/>
              </a:spcBef>
            </a:pPr>
            <a:r>
              <a:rPr sz="2200" b="0" i="0">
                <a:solidFill>
                  <a:srgbClr val="35C9C9"/>
                </a:solidFill>
                <a:latin typeface="Calibri"/>
              </a:rPr>
              <a:t>Make the cost of every AI agent explainable.</a:t>
            </a:r>
          </a:p>
          <a:p>
            <a:pPr algn="l">
              <a:spcBef>
                <a:spcPts val="2200"/>
              </a:spcBef>
            </a:pPr>
            <a:r>
              <a:rPr sz="2000" b="0" i="1">
                <a:solidFill>
                  <a:srgbClr val="E8ECF1"/>
                </a:solidFill>
                <a:latin typeface="Calibri"/>
              </a:rPr>
              <a:t>"Not CCTV after the fire — a breaker before it ignites."</a:t>
            </a:r>
          </a:p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9AA7B4"/>
                </a:solidFill>
                <a:latin typeface="Calibri"/>
              </a:rPr>
              <a:t>Govern the LLM / tool / external-API cost agents burn on their own — on the execution path — and explain it, audit-grade.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594360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7B4"/>
                </a:solidFill>
                <a:latin typeface="Calibri"/>
              </a:rPr>
              <a:t>Team · 2026 · Presenter</a:t>
            </a:r>
          </a:p>
          <a:p>
            <a:pPr algn="l"/>
            <a:r>
              <a:rPr sz="1100" b="1" i="0">
                <a:solidFill>
                  <a:srgbClr val="FF6B35"/>
                </a:solidFill>
                <a:latin typeface="Calibri"/>
              </a:rPr>
              <a:t>VERSION A — Pure Market Shift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THE SHIFT · THE SPINE (UNDENIABLE LAYER)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E8ECF1"/>
                </a:solidFill>
                <a:latin typeface="Calibri"/>
              </a:rPr>
              <a:t>The decider of AI spend has moved from humans to the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 dirty="0">
                <a:solidFill>
                  <a:srgbClr val="E8ECF1"/>
                </a:solidFill>
                <a:latin typeface="Calibri"/>
              </a:rPr>
              <a:t>▸  Old world: cost is declared by the developer in code → predictable, controllable.</a:t>
            </a:r>
          </a:p>
          <a:p>
            <a:pPr algn="l">
              <a:spcAft>
                <a:spcPts val="800"/>
              </a:spcAft>
            </a:pPr>
            <a:r>
              <a:rPr sz="1700" b="1" i="0" dirty="0">
                <a:solidFill>
                  <a:srgbClr val="E8ECF1"/>
                </a:solidFill>
                <a:latin typeface="Calibri"/>
              </a:rPr>
              <a:t>▸  New world: the model itself decides which tool to call, when, and how many times → the spend trigger moves to the model.</a:t>
            </a:r>
          </a:p>
          <a:p>
            <a:pPr algn="l">
              <a:spcAft>
                <a:spcPts val="800"/>
              </a:spcAft>
            </a:pPr>
            <a:r>
              <a:rPr sz="1700" b="0" i="0" dirty="0">
                <a:solidFill>
                  <a:srgbClr val="E8ECF1"/>
                </a:solidFill>
                <a:latin typeface="Calibri"/>
              </a:rPr>
              <a:t>▸  Production-agent tokens ≈ 50× a chatbot. Finance has lost control.</a:t>
            </a:r>
          </a:p>
          <a:p>
            <a:pPr algn="l">
              <a:spcAft>
                <a:spcPts val="800"/>
              </a:spcAft>
            </a:pPr>
            <a:r>
              <a:rPr sz="1700" b="0" i="0" dirty="0">
                <a:solidFill>
                  <a:srgbClr val="35C9C9"/>
                </a:solidFill>
                <a:latin typeface="Calibri"/>
              </a:rPr>
              <a:t>▸  Why Now: someone has to solve this now, with or without us — Meta &amp; Uber already built their own gateways; </a:t>
            </a:r>
            <a:r>
              <a:rPr sz="1700" b="0" i="0" dirty="0" err="1">
                <a:solidFill>
                  <a:srgbClr val="35C9C9"/>
                </a:solidFill>
                <a:latin typeface="Calibri"/>
              </a:rPr>
              <a:t>SatGate</a:t>
            </a:r>
            <a:r>
              <a:rPr sz="1700" b="0" i="0" dirty="0">
                <a:solidFill>
                  <a:srgbClr val="35C9C9"/>
                </a:solidFill>
                <a:latin typeface="Calibri"/>
              </a:rPr>
              <a:t> pre-launched.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THE VILLAIN · LOSER'S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E8ECF1"/>
                </a:solidFill>
                <a:latin typeface="Calibri"/>
              </a:rPr>
              <a:t>The total is visible. The breakdown isn't.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E8ECF1"/>
                </a:solidFill>
                <a:latin typeface="Calibri"/>
              </a:rPr>
              <a:t>▸  Cloud logging already shows the monthly total — that's not the gap. No one can break it down by feature / team / customer.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E8ECF1"/>
                </a:solidFill>
                <a:latin typeface="Calibri"/>
              </a:rPr>
              <a:t>▸  Observability = monthly, after-the-fact. Static keys &amp; caps = a blunt knife that can't tell normal from runaway.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35C9C9"/>
                </a:solidFill>
                <a:latin typeface="Calibri"/>
              </a:rPr>
              <a:t>▸  And tools see only up to the LLM call. Search, crawling, third-party APIs are off-screen — so true unit cost is never attributed.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48840"/>
            <a:ext cx="49377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0" b="1" i="0">
                <a:solidFill>
                  <a:srgbClr val="35C9C9"/>
                </a:solidFill>
                <a:latin typeface="Calibri"/>
              </a:rPr>
              <a:t>41%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306324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 dirty="0">
                <a:solidFill>
                  <a:srgbClr val="E8ECF1"/>
                </a:solidFill>
                <a:latin typeface="Calibri"/>
              </a:rPr>
              <a:t>of COGS never touches a model.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34015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 dirty="0">
                <a:solidFill>
                  <a:srgbClr val="9AA7B4"/>
                </a:solidFill>
                <a:latin typeface="Calibri"/>
              </a:rPr>
              <a:t>It is tool &amp; retrieval spend token dashboards don't see.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46520" y="4069080"/>
            <a:ext cx="2778404" cy="566928"/>
          </a:xfrm>
          <a:prstGeom prst="rect">
            <a:avLst/>
          </a:prstGeom>
          <a:solidFill>
            <a:srgbClr val="4A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224924" y="4069080"/>
            <a:ext cx="1130198" cy="56692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355122" y="4069080"/>
            <a:ext cx="800557" cy="566928"/>
          </a:xfrm>
          <a:prstGeom prst="rect">
            <a:avLst/>
          </a:prstGeom>
          <a:solidFill>
            <a:srgbClr val="35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73952" y="4937760"/>
            <a:ext cx="128016" cy="128016"/>
          </a:xfrm>
          <a:prstGeom prst="ellipse">
            <a:avLst/>
          </a:prstGeom>
          <a:solidFill>
            <a:srgbClr val="4A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66560" y="489204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E8ECF1"/>
                </a:solidFill>
                <a:latin typeface="Calibri"/>
              </a:rPr>
              <a:t>LLM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489204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9AA7B4"/>
                </a:solidFill>
                <a:latin typeface="Calibri"/>
              </a:rPr>
              <a:t>59% · $68.8K</a:t>
            </a:r>
          </a:p>
        </p:txBody>
      </p:sp>
      <p:sp>
        <p:nvSpPr>
          <p:cNvPr id="16" name="Oval 15"/>
          <p:cNvSpPr/>
          <p:nvPr/>
        </p:nvSpPr>
        <p:spPr>
          <a:xfrm>
            <a:off x="6473952" y="5321808"/>
            <a:ext cx="128016" cy="12801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5276088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E8ECF1"/>
                </a:solidFill>
                <a:latin typeface="Calibri"/>
              </a:rPr>
              <a:t>Search Tool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5276088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9AA7B4"/>
                </a:solidFill>
                <a:latin typeface="Calibri"/>
              </a:rPr>
              <a:t>24% · $27.9K</a:t>
            </a:r>
          </a:p>
        </p:txBody>
      </p:sp>
      <p:sp>
        <p:nvSpPr>
          <p:cNvPr id="19" name="Oval 18"/>
          <p:cNvSpPr/>
          <p:nvPr/>
        </p:nvSpPr>
        <p:spPr>
          <a:xfrm>
            <a:off x="6473952" y="5705856"/>
            <a:ext cx="128016" cy="128016"/>
          </a:xfrm>
          <a:prstGeom prst="ellipse">
            <a:avLst/>
          </a:prstGeom>
          <a:solidFill>
            <a:srgbClr val="35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66560" y="5660136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E8ECF1"/>
                </a:solidFill>
                <a:latin typeface="Calibri"/>
              </a:rPr>
              <a:t>External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5660136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9AA7B4"/>
                </a:solidFill>
                <a:latin typeface="Calibri"/>
              </a:rPr>
              <a:t>17% · $20.0K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617220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35C9C9"/>
                </a:solidFill>
                <a:latin typeface="Calibri"/>
              </a:rPr>
              <a:t>Search + DB = $47.8K nobody attributes to the agent that spent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REAL PAIN · EVIDENCE, NOT A HERO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E8ECF1"/>
                </a:solidFill>
                <a:latin typeface="Calibri"/>
              </a:rPr>
              <a:t>The problem isn't 'we don't know how much' — it's 'we can't explain why.'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 dirty="0">
                <a:solidFill>
                  <a:srgbClr val="E8ECF1"/>
                </a:solidFill>
                <a:latin typeface="Calibri"/>
              </a:rPr>
              <a:t>▸  Acute (verified wedge): one dev, an infinite retry loop → $47K billed, unnoticed for 11 days. A B2B SaaS: API usage +400% overnight.</a:t>
            </a:r>
          </a:p>
          <a:p>
            <a:pPr algn="l">
              <a:spcAft>
                <a:spcPts val="800"/>
              </a:spcAft>
            </a:pPr>
            <a:r>
              <a:rPr sz="1700" b="0" i="0" dirty="0">
                <a:solidFill>
                  <a:srgbClr val="9AA7B4"/>
                </a:solidFill>
                <a:latin typeface="Calibri"/>
              </a:rPr>
              <a:t>▸  At enterprise scale, control failure = hundreds of millions/yr.</a:t>
            </a:r>
          </a:p>
          <a:p>
            <a:pPr algn="l">
              <a:spcAft>
                <a:spcPts val="800"/>
              </a:spcAft>
            </a:pPr>
            <a:r>
              <a:rPr sz="1700" b="0" i="0" dirty="0">
                <a:solidFill>
                  <a:srgbClr val="E8ECF1"/>
                </a:solidFill>
                <a:latin typeface="Calibri"/>
              </a:rPr>
              <a:t>▸  Redefinition: the spike is just the trigger. The real loss = even after the incident, no answer to 'cost per customer / which feature eats the margin.'</a:t>
            </a:r>
          </a:p>
          <a:p>
            <a:pPr algn="l">
              <a:spcAft>
                <a:spcPts val="800"/>
              </a:spcAft>
            </a:pPr>
            <a:r>
              <a:rPr sz="1700" b="0" i="0" dirty="0">
                <a:solidFill>
                  <a:srgbClr val="F2C14E"/>
                </a:solidFill>
                <a:latin typeface="Calibri"/>
              </a:rPr>
              <a:t>▸  ⚠  Chronic (always-on COGS explanation) = an expansion hypothesis we are validating in interviews.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THE PROMISED LAND · THE WINNER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E8ECF1"/>
                </a:solidFill>
                <a:latin typeface="Calibri"/>
              </a:rPr>
              <a:t>You become a company that can explain AI cost per customer &amp; per feature — in real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 dirty="0">
                <a:solidFill>
                  <a:srgbClr val="35C9C9"/>
                </a:solidFill>
                <a:latin typeface="Calibri"/>
              </a:rPr>
              <a:t>▸  'We cut your AI bill' ✗ → 'We let you explain your AI unit cost' ✓.</a:t>
            </a:r>
          </a:p>
          <a:p>
            <a:pPr algn="l">
              <a:spcAft>
                <a:spcPts val="800"/>
              </a:spcAft>
            </a:pPr>
            <a:r>
              <a:rPr sz="1700" b="0" i="0" dirty="0">
                <a:solidFill>
                  <a:srgbClr val="E8ECF1"/>
                </a:solidFill>
                <a:latin typeface="Calibri"/>
              </a:rPr>
              <a:t>▸  Pricing, the board, and due diligence become real-time numbers instead of guesses.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VEHICLE ·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A layer that attributes and controls cost — on the execution path.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Logging gives you the total; we give you the breakdown. We attribute &amp; govern every LLM + tool + external-API call at request time — per feature / team / customer.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"Not CCTV after the fire — a breaker before it ignites." Block before execution + audit-grade reason for the block.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Enter via a Trust Ladder: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1 — off-path reports (no proxy)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2 — async policy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3 — block inside the customer-owned gateway (we never own the path)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HOW IT WORKS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Three mechanisms — all in service of real-time cost attribution &amp; control.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1. Inline policy engine — evaluate &amp; block per session / customer / feature budget BEFORE execution. Block reason to an audit log. (SPOF/latency handled via sidecar, async, bypass.)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2. Semantic usage attribution — tag every call request → agent step → LLM / tool / external API. Keep a non-LLM unit-price catalog to sum true total cost.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3. Dynamic model routing (by-product) — route by complexity, save with no quality loss. Mentioned only as a bonus (public technique = not a moat).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CUSTOMER · WHO BUYS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Can't build like Meta — but far more spend &amp; audit pressure than a startup.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Paid target: mid-market / scale-up B2B — $50K–$500K/mo AI spend, 50–300 people, Series A–C. Not big enough to staff an infra team → can't build, must buy.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Why B2B: per-customer unit cost is a B2B need (customer = contract). B2C rolls cost up by category — a B2B CTO must defend margin per account. (An ML lead we spoke with framed it exactly this way.)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Tooling / spend = 1–3% (clear ROI). Skips the death valley (small = negative ROI / enterprise = builds its own). Buyer = CTO, champion = AI lead, finance = influencer.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Korean AI startups = free design partners (data &amp; references); paid = US mid-market.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Bet, not fact: 'can't build → must buy' + the spend threshold &amp; buyer are what we are validating in interviews.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MARKET · TAM / SAM / SOM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E8ECF1"/>
                </a:solidFill>
                <a:latin typeface="Calibri"/>
              </a:rPr>
              <a:t>Korea is the wedge; the market is global agent infra. Bet the slope, not the size.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 dirty="0">
                <a:solidFill>
                  <a:srgbClr val="E8ECF1"/>
                </a:solidFill>
                <a:latin typeface="Calibri"/>
              </a:rPr>
              <a:t>▸  Lens A (governed AI spend × ~1–2% take-rate) = main; Lens B (AI FinOps + </a:t>
            </a:r>
            <a:r>
              <a:rPr sz="1500" b="0" i="0" dirty="0" err="1">
                <a:solidFill>
                  <a:srgbClr val="E8ECF1"/>
                </a:solidFill>
                <a:latin typeface="Calibri"/>
              </a:rPr>
              <a:t>LLMOps</a:t>
            </a:r>
            <a:r>
              <a:rPr sz="1500" b="0" i="0" dirty="0">
                <a:solidFill>
                  <a:srgbClr val="E8ECF1"/>
                </a:solidFill>
                <a:latin typeface="Calibri"/>
              </a:rPr>
              <a:t>) = cross-check. CAGR ~20%.</a:t>
            </a:r>
          </a:p>
          <a:p>
            <a:pPr algn="l">
              <a:spcAft>
                <a:spcPts val="900"/>
              </a:spcAft>
            </a:pPr>
            <a:r>
              <a:rPr sz="1500" b="0" i="0" dirty="0">
                <a:solidFill>
                  <a:srgbClr val="E8ECF1"/>
                </a:solidFill>
                <a:latin typeface="Calibri"/>
              </a:rPr>
              <a:t>▸  ACV $30K = median of competitor mid-market ACVs.</a:t>
            </a:r>
          </a:p>
          <a:p>
            <a:pPr algn="l">
              <a:spcAft>
                <a:spcPts val="900"/>
              </a:spcAft>
            </a:pPr>
            <a:r>
              <a:rPr sz="1500" b="1" i="0" dirty="0">
                <a:solidFill>
                  <a:srgbClr val="35C9C9"/>
                </a:solidFill>
                <a:latin typeface="Calibri"/>
              </a:rPr>
              <a:t>▸  SOM engine: 50–150 US paid, seeded by the Korea wedge + US network.</a:t>
            </a:r>
          </a:p>
          <a:p>
            <a:pPr algn="l">
              <a:spcAft>
                <a:spcPts val="900"/>
              </a:spcAft>
            </a:pPr>
            <a:r>
              <a:rPr sz="1500" b="0" i="0" dirty="0">
                <a:solidFill>
                  <a:srgbClr val="F2C14E"/>
                </a:solidFill>
                <a:latin typeface="Calibri"/>
              </a:rPr>
              <a:t>▸  ⚠  SAM population (10–20K firms) = hypothesis, refined by interview screening pass-rate.</a:t>
            </a:r>
          </a:p>
        </p:txBody>
      </p:sp>
      <p:sp>
        <p:nvSpPr>
          <p:cNvPr id="7" name="Oval 6"/>
          <p:cNvSpPr/>
          <p:nvPr/>
        </p:nvSpPr>
        <p:spPr>
          <a:xfrm>
            <a:off x="6675120" y="2103120"/>
            <a:ext cx="4114800" cy="4114800"/>
          </a:xfrm>
          <a:prstGeom prst="ellipse">
            <a:avLst/>
          </a:prstGeom>
          <a:solidFill>
            <a:srgbClr val="12202B"/>
          </a:solidFill>
          <a:ln w="15875">
            <a:solidFill>
              <a:srgbClr val="35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383780" y="3515868"/>
            <a:ext cx="2697480" cy="2697480"/>
          </a:xfrm>
          <a:prstGeom prst="ellipse">
            <a:avLst/>
          </a:prstGeom>
          <a:solidFill>
            <a:srgbClr val="17323C"/>
          </a:solidFill>
          <a:ln w="12700">
            <a:solidFill>
              <a:srgbClr val="35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115300" y="4983480"/>
            <a:ext cx="1234440" cy="123444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269480" y="233172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 i="0" dirty="0">
                <a:solidFill>
                  <a:srgbClr val="35C9C9"/>
                </a:solidFill>
                <a:latin typeface="Calibri"/>
              </a:rPr>
              <a:t>TAM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265176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 i="0" dirty="0">
                <a:solidFill>
                  <a:srgbClr val="E8ECF1"/>
                </a:solidFill>
                <a:latin typeface="Calibri"/>
              </a:rPr>
              <a:t>$0.5–1.8B  (2026)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8060" y="4066794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 dirty="0">
                <a:solidFill>
                  <a:srgbClr val="E8ECF1"/>
                </a:solidFill>
                <a:latin typeface="Calibri"/>
              </a:rPr>
              <a:t>SAM  $0.3–0.6B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0" y="5257800"/>
            <a:ext cx="1554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 dirty="0">
                <a:solidFill>
                  <a:srgbClr val="0E141B"/>
                </a:solidFill>
                <a:latin typeface="Calibri"/>
              </a:rPr>
              <a:t>SOM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560070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 i="0" dirty="0">
                <a:solidFill>
                  <a:srgbClr val="0E141B"/>
                </a:solidFill>
                <a:latin typeface="Calibri"/>
              </a:rPr>
              <a:t>$1.5–4.5M ARR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617220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0">
                <a:solidFill>
                  <a:srgbClr val="9AA7B4"/>
                </a:solidFill>
                <a:latin typeface="Calibri"/>
              </a:rPr>
              <a:t>3-yr, not to scale  ·  main lens = governed AI spend × ~1–2% take-rate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E8ECF1"/>
                </a:solidFill>
                <a:latin typeface="Calibri"/>
              </a:rPr>
              <a:t>Two axes: after-the-fact vs. pre-execution × total visibility vs. audit-grade attribution.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E8ECF1"/>
                </a:solidFill>
                <a:latin typeface="Calibri"/>
              </a:rPr>
              <a:t>▸  Showing the total is table stakes — logging, observability &amp; billing all do it.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35C9C9"/>
                </a:solidFill>
                <a:latin typeface="Calibri"/>
              </a:rPr>
              <a:t>▸  The gap = attributing the agent's full cost per feature / team / customer, audit-grade, before execution.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E8ECF1"/>
                </a:solidFill>
                <a:latin typeface="Calibri"/>
              </a:rPr>
              <a:t>▸  FinOps (CloudZero · Vantage) does per-unit attribution — but for cloud spend, after-the-fact, off the agent path.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E8ECF1"/>
                </a:solidFill>
                <a:latin typeface="Calibri"/>
              </a:rPr>
              <a:t>▸  Our square — pre-execution × audit-grade attribution. Nobody occupies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915400" y="2331720"/>
            <a:ext cx="2011680" cy="1600200"/>
          </a:xfrm>
          <a:prstGeom prst="rect">
            <a:avLst/>
          </a:prstGeom>
          <a:solidFill>
            <a:srgbClr val="14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" name="Connector 7"/>
          <p:cNvCxnSpPr/>
          <p:nvPr/>
        </p:nvCxnSpPr>
        <p:spPr>
          <a:xfrm>
            <a:off x="6903720" y="3931920"/>
            <a:ext cx="4023360" cy="0"/>
          </a:xfrm>
          <a:prstGeom prst="bentConnector3">
            <a:avLst/>
          </a:prstGeom>
          <a:ln w="15875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15400" y="2331720"/>
            <a:ext cx="0" cy="3200400"/>
          </a:xfrm>
          <a:prstGeom prst="bentConnector3">
            <a:avLst/>
          </a:prstGeom>
          <a:ln w="15875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0" y="3767328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9AA7B4"/>
                </a:solidFill>
                <a:latin typeface="Calibri"/>
              </a:rPr>
              <a:t>After-the-fact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12680" y="376732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AA7B4"/>
                </a:solidFill>
                <a:latin typeface="Calibri"/>
              </a:rPr>
              <a:t>Pre-execution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0" y="202082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i="0">
                <a:solidFill>
                  <a:srgbClr val="35C9C9"/>
                </a:solidFill>
                <a:latin typeface="Calibri"/>
              </a:rPr>
              <a:t>Audit-grade attribution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5559552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 i="0">
                <a:solidFill>
                  <a:srgbClr val="9AA7B4"/>
                </a:solidFill>
                <a:latin typeface="Calibri"/>
              </a:rPr>
              <a:t>Total visibility only</a:t>
            </a:r>
          </a:p>
        </p:txBody>
      </p:sp>
      <p:sp>
        <p:nvSpPr>
          <p:cNvPr id="14" name="Oval 13"/>
          <p:cNvSpPr/>
          <p:nvPr/>
        </p:nvSpPr>
        <p:spPr>
          <a:xfrm>
            <a:off x="7563916" y="4764024"/>
            <a:ext cx="128016" cy="128016"/>
          </a:xfrm>
          <a:prstGeom prst="ellipse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55940" y="4681728"/>
            <a:ext cx="192024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E8ECF1"/>
                </a:solidFill>
                <a:latin typeface="Calibri"/>
              </a:rPr>
              <a:t>Langfuse · Helicone</a:t>
            </a:r>
          </a:p>
        </p:txBody>
      </p:sp>
      <p:sp>
        <p:nvSpPr>
          <p:cNvPr id="16" name="Oval 15"/>
          <p:cNvSpPr/>
          <p:nvPr/>
        </p:nvSpPr>
        <p:spPr>
          <a:xfrm>
            <a:off x="7242048" y="5276088"/>
            <a:ext cx="128016" cy="128016"/>
          </a:xfrm>
          <a:prstGeom prst="ellipse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34072" y="5193792"/>
            <a:ext cx="192024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E8ECF1"/>
                </a:solidFill>
                <a:latin typeface="Calibri"/>
              </a:rPr>
              <a:t>Logs · scripts</a:t>
            </a:r>
          </a:p>
        </p:txBody>
      </p:sp>
      <p:sp>
        <p:nvSpPr>
          <p:cNvPr id="18" name="Oval 17"/>
          <p:cNvSpPr/>
          <p:nvPr/>
        </p:nvSpPr>
        <p:spPr>
          <a:xfrm>
            <a:off x="7805318" y="3099816"/>
            <a:ext cx="128016" cy="128016"/>
          </a:xfrm>
          <a:prstGeom prst="ellipse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97342" y="3017520"/>
            <a:ext cx="192024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E8ECF1"/>
                </a:solidFill>
                <a:latin typeface="Calibri"/>
              </a:rPr>
              <a:t>CloudZero · Vantage*</a:t>
            </a:r>
          </a:p>
        </p:txBody>
      </p:sp>
      <p:sp>
        <p:nvSpPr>
          <p:cNvPr id="20" name="Oval 19"/>
          <p:cNvSpPr/>
          <p:nvPr/>
        </p:nvSpPr>
        <p:spPr>
          <a:xfrm>
            <a:off x="9736531" y="4956048"/>
            <a:ext cx="128016" cy="128016"/>
          </a:xfrm>
          <a:prstGeom prst="ellipse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0571" y="4873752"/>
            <a:ext cx="192024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E8ECF1"/>
                </a:solidFill>
                <a:latin typeface="Calibri"/>
              </a:rPr>
              <a:t>LiteLLM · Portkey</a:t>
            </a:r>
          </a:p>
        </p:txBody>
      </p:sp>
      <p:sp>
        <p:nvSpPr>
          <p:cNvPr id="22" name="Oval 21"/>
          <p:cNvSpPr/>
          <p:nvPr/>
        </p:nvSpPr>
        <p:spPr>
          <a:xfrm>
            <a:off x="9816998" y="2907792"/>
            <a:ext cx="128016" cy="128016"/>
          </a:xfrm>
          <a:prstGeom prst="ellips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851038" y="2825496"/>
            <a:ext cx="192024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F2C14E"/>
                </a:solidFill>
                <a:latin typeface="Calibri"/>
              </a:rPr>
              <a:t>SatGate (pre-launch)</a:t>
            </a:r>
          </a:p>
        </p:txBody>
      </p:sp>
      <p:sp>
        <p:nvSpPr>
          <p:cNvPr id="24" name="Oval 23"/>
          <p:cNvSpPr/>
          <p:nvPr/>
        </p:nvSpPr>
        <p:spPr>
          <a:xfrm>
            <a:off x="10352836" y="2496312"/>
            <a:ext cx="182880" cy="18288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14308" y="2441448"/>
            <a:ext cx="192024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FF6B35"/>
                </a:solidFill>
                <a:latin typeface="Calibri"/>
              </a:rPr>
              <a:t>Kyber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6199632"/>
            <a:ext cx="51206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 i="0">
                <a:solidFill>
                  <a:srgbClr val="9AA7B4"/>
                </a:solidFill>
                <a:latin typeface="Calibri"/>
              </a:rPr>
              <a:t>*FinOps attributes cloud spend — off the agent path, after-the-fact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What gets copied is features. What can't be caught up is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Caching, routing, hard-limits = replicable in 6 months. Not a moat.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Moat = things that get stronger as customer data accumulates: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     –  1. Unit-economics accuracy gap — more traffic → sharper runaway detection &amp; cost simulation. Followers start from zero data.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     –  2. Peer benchmark (lagging) — 'top 20% cost-per-request vs. your peer type.' Scales with customer count; structurally impossible for latecomers.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Once this cost view is embedded in pricing &amp; board routines, switching cost spikes.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BUSINESS MODEL ·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A company that sells cost does not earn in proportion to the customer's cost.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Spend-proportional pricing ✗ (conflicts with the savings incentive). Price on per-agent (# of monitored agents) → incentives aligned.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3 tiers: Free (monitoring/blocking = commodity) → Growth ~$18K/yr (automated COGS report = paid entry) → Enterprise ~$60K/yr (audit-grade + in-path blocking). Blended ACV ~$30K.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Anchored in comps: LLM observability $5–25K (Langfuse/Helicone/Portkey) &lt; us $30K &lt; cloud FinOps $30–130K (CloudZero/Cloudability). Precedent for per-unit pricing: Agentforce, Datadog per-host.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Expansion = agents 20 → 40 → 80 grows revenue = net-negative churn.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Slogan: "Sell the ledger before you sell the breaker."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Price figures are hypotheses to validate in interviews.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GO-TO-MARKET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The champion bites for free; the CTO opens the wallet for COGS.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Landing: free Cost Autopsy report (off-path) → AI lead adopts bottom-up.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Conversion: at an incident or credit burn-out, the champion pitches the CTO paid → land with COGS &amp; margin reports.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Market order: Korea (free design partners / validation) → US mid-market (paid).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Blocker pre-empt: to IT/legal — 'metadata only + cross-vendor independent audit.'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In place of traction, how precisely we've narrowed the problem — and our first real signal.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How we sell = we don't sell to everyone. A discipline that quickly filters anti-ICP.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First real signal — an ML lead at a Korean AI-search company (2 rounds) confirmed build/buy splits cost structure, and that per-customer attribution needs deliberate data work.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Outreach sent (Korea AI startups + US mid-market Top 5). Design partners: N in progress.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Formal interviews: 0 → N in progress, first signal secured (pricing built on data, honestly stated).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Target metric = net-negative churn (agent expansion).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Technology × customer development — a 2-person 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 dirty="0">
                <a:solidFill>
                  <a:srgbClr val="E8ECF1"/>
                </a:solidFill>
                <a:latin typeface="Calibri"/>
              </a:rPr>
              <a:t>▸  Taewon — technology &amp; product (agent orchestration · infrastructure).</a:t>
            </a:r>
          </a:p>
          <a:p>
            <a:pPr algn="l">
              <a:spcAft>
                <a:spcPts val="800"/>
              </a:spcAft>
            </a:pPr>
            <a:r>
              <a:rPr sz="1700" b="0" i="0" dirty="0">
                <a:solidFill>
                  <a:srgbClr val="E8ECF1"/>
                </a:solidFill>
                <a:latin typeface="Calibri"/>
              </a:rPr>
              <a:t>▸  Jaemin (Malik) — CEO · customer development · GTM · research.</a:t>
            </a:r>
          </a:p>
          <a:p>
            <a:pPr algn="l">
              <a:spcAft>
                <a:spcPts val="800"/>
              </a:spcAft>
            </a:pPr>
            <a:r>
              <a:rPr sz="1700" b="0" i="0" dirty="0">
                <a:solidFill>
                  <a:srgbClr val="9AA7B4"/>
                </a:solidFill>
                <a:latin typeface="Calibri"/>
              </a:rPr>
              <a:t>▸  (Advisors &amp; design-partner relationships added as secured.)</a:t>
            </a:r>
          </a:p>
          <a:p>
            <a:pPr algn="l">
              <a:spcAft>
                <a:spcPts val="800"/>
              </a:spcAft>
            </a:pPr>
            <a:r>
              <a:rPr sz="1700" b="0" i="0" dirty="0">
                <a:solidFill>
                  <a:srgbClr val="F2C14E"/>
                </a:solidFill>
                <a:latin typeface="Calibri"/>
              </a:rPr>
              <a:t>▸  ⚠  Confirm role split — deck vs. memory mismatch on who is CEO; align before the pitch.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VISION ·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E8ECF1"/>
                </a:solidFill>
                <a:latin typeface="Calibri"/>
              </a:rPr>
              <a:t>As agents grow, revenue bends into a curve.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9AA7B4"/>
                </a:solidFill>
                <a:latin typeface="Calibri"/>
              </a:rPr>
              <a:t>▸  Revenue only (no cost/net income). Engine = new logos + agent expansion.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35C9C9"/>
                </a:solidFill>
                <a:latin typeface="Calibri"/>
              </a:rPr>
              <a:t>▸  Vision: in an age where autonomous software spends money, a world where every dollar is explainable.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F6B35"/>
                </a:solidFill>
                <a:latin typeface="Calibri"/>
              </a:rPr>
              <a:t>▸  Our ask isn't a check — it's connections: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35C9C9"/>
                </a:solidFill>
                <a:latin typeface="Calibri"/>
              </a:rPr>
              <a:t>▸  (a) AI / infra advisors to pressure-test the wedge  ·  (b) mid-market teams to onboard as design partners  ·  (c) warm intros to production-agent CTOs &amp; AI leads.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03720" y="5532120"/>
            <a:ext cx="4297680" cy="0"/>
          </a:xfrm>
          <a:prstGeom prst="bentConnector3">
            <a:avLst/>
          </a:prstGeom>
          <a:ln w="12700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03720" y="2514600"/>
            <a:ext cx="0" cy="3017520"/>
          </a:xfrm>
          <a:prstGeom prst="bentConnector3">
            <a:avLst/>
          </a:prstGeom>
          <a:ln w="12700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6903720" y="2514600"/>
            <a:ext cx="4297680" cy="3017520"/>
          </a:xfrm>
          <a:custGeom>
            <a:avLst/>
            <a:gdLst/>
            <a:ahLst/>
            <a:cxnLst/>
            <a:rect l="l" t="t" r="r" b="b"/>
            <a:pathLst>
              <a:path w="4297680" h="3017520">
                <a:moveTo>
                  <a:pt x="0" y="3017520"/>
                </a:moveTo>
                <a:lnTo>
                  <a:pt x="0" y="3017520"/>
                </a:lnTo>
                <a:lnTo>
                  <a:pt x="1432560" y="2866644"/>
                </a:lnTo>
                <a:lnTo>
                  <a:pt x="2865120" y="2168842"/>
                </a:lnTo>
                <a:lnTo>
                  <a:pt x="4297680" y="0"/>
                </a:lnTo>
                <a:lnTo>
                  <a:pt x="4297680" y="3017520"/>
                </a:lnTo>
                <a:close/>
              </a:path>
            </a:pathLst>
          </a:custGeom>
          <a:solidFill>
            <a:srgbClr val="123A40"/>
          </a:solidFill>
          <a:ln w="31750">
            <a:solidFill>
              <a:srgbClr val="35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558698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AA7B4"/>
                </a:solidFill>
                <a:latin typeface="Calibri"/>
              </a:rPr>
              <a:t>Yr0</a:t>
            </a:r>
          </a:p>
        </p:txBody>
      </p:sp>
      <p:sp>
        <p:nvSpPr>
          <p:cNvPr id="11" name="Oval 10"/>
          <p:cNvSpPr/>
          <p:nvPr/>
        </p:nvSpPr>
        <p:spPr>
          <a:xfrm>
            <a:off x="8263128" y="5308092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559040" y="4960620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E8ECF1"/>
                </a:solidFill>
                <a:latin typeface="Calibri"/>
              </a:rPr>
              <a:t>$0.24M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87640" y="558698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AA7B4"/>
                </a:solidFill>
                <a:latin typeface="Calibri"/>
              </a:rPr>
              <a:t>Yr1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200" y="5861304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0">
                <a:solidFill>
                  <a:srgbClr val="35C9C9"/>
                </a:solidFill>
                <a:latin typeface="Calibri"/>
              </a:rPr>
              <a:t>8 cust.</a:t>
            </a:r>
          </a:p>
        </p:txBody>
      </p:sp>
      <p:sp>
        <p:nvSpPr>
          <p:cNvPr id="15" name="Oval 14"/>
          <p:cNvSpPr/>
          <p:nvPr/>
        </p:nvSpPr>
        <p:spPr>
          <a:xfrm>
            <a:off x="9695688" y="4610290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91600" y="4262818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E8ECF1"/>
                </a:solidFill>
                <a:latin typeface="Calibri"/>
              </a:rPr>
              <a:t>$1.35M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0200" y="558698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AA7B4"/>
                </a:solidFill>
                <a:latin typeface="Calibri"/>
              </a:rPr>
              <a:t>Yr2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8760" y="5861304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0">
                <a:solidFill>
                  <a:srgbClr val="35C9C9"/>
                </a:solidFill>
                <a:latin typeface="Calibri"/>
              </a:rPr>
              <a:t>45 cust.</a:t>
            </a:r>
          </a:p>
        </p:txBody>
      </p:sp>
      <p:sp>
        <p:nvSpPr>
          <p:cNvPr id="19" name="Oval 18"/>
          <p:cNvSpPr/>
          <p:nvPr/>
        </p:nvSpPr>
        <p:spPr>
          <a:xfrm>
            <a:off x="11128248" y="2441448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424160" y="2093976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E8ECF1"/>
                </a:solidFill>
                <a:latin typeface="Calibri"/>
              </a:rPr>
              <a:t>$4.8M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52760" y="558698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AA7B4"/>
                </a:solidFill>
                <a:latin typeface="Calibri"/>
              </a:rPr>
              <a:t>Yr3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61320" y="5861304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0">
                <a:solidFill>
                  <a:srgbClr val="35C9C9"/>
                </a:solidFill>
                <a:latin typeface="Calibri"/>
              </a:rPr>
              <a:t>160 cust.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635508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0">
                <a:solidFill>
                  <a:srgbClr val="F2C14E"/>
                </a:solidFill>
                <a:latin typeface="Calibri"/>
              </a:rPr>
              <a:t>ARR @ $30K ACV  ·  ⚠ strong-execution case (target NRR ~110%)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2418</Words>
  <Application>Microsoft Macintosh PowerPoint</Application>
  <PresentationFormat>와이드스크린</PresentationFormat>
  <Paragraphs>167</Paragraphs>
  <Slides>16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0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김태원</cp:lastModifiedBy>
  <cp:revision>2</cp:revision>
  <dcterms:created xsi:type="dcterms:W3CDTF">2013-01-27T09:14:16Z</dcterms:created>
  <dcterms:modified xsi:type="dcterms:W3CDTF">2026-07-31T21:34:44Z</dcterms:modified>
  <cp:category/>
</cp:coreProperties>
</file>