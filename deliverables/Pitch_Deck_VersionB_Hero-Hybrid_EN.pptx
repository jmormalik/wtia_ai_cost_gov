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Opening with a specific person conveys 'this is for a specific person (a mid-market CTO), not everyone.' The 'representative persona' label is mandatory.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Bridge slide hero → market shift. Only here assert the shift as 'one undeniable layer.'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Reframed 7/29: the gap isn't 'total invisible' (cloud logging shows it) — it's per-feature/team/customer attribution + the 41% non-LLM spend. Keep incident numbers ($47K) tied to Sarah.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Completes the hero journey (problem → experiencing the solution → change).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Ladder = our risk answer. Directly reflects the 'only OSS on the critical path' signal. Team-confirmed 7/23.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slide = embed the React demo (per-customer unit economics + real-time budget hard-limits + routing). Never use the 'kernel/C++' framing from the old Gemini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A-LED BLEND (CEO decision 8/3): sell to reachable AI-native scaleups now; ride the non-AI-native wave as expansion. Pre-empts 'just buy tokens' ($50K+ spend) &amp; 'build it yourself' — AI-native answer = buy-vs-build ROI + cross-vendor + audit-grade + peer-benchmark data they can't replicate; and the rebuttal structurally dies as we expand to non-AI-native (no AI-eng DNA). Source: ICP/ICP.md.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A-LED BLEND: near-term SOM = reachable AI-native scaleups (evidence + product coherence); the SLOPE = the far larger non-AI-native wave whose adoption curve is just starting → 3–4x by 2030 (they can't build it → ours to take). Never present the old LAM $80K as market size. We don't price on take-rate — sizing sanity check only. Source: Market/TAM-SAM-SOM.md.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Reframed 7/29: don't say rivals 'can't see cost' — they show totals. HONESTY: FinOps already sells per-unit attribution, but for cloud/infra spend, after-the-fact, not the agent execution path. Our differentiation = the intersection. SatGate pre-launch = timing validation, not absent demand.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Feature matrix. Row 1 (LLM tracking) = table stakes — everyone has it, shows honesty. Rows 2-5 = our wedge. Key: runaway loop detection = NOBODY. Don’t claim we’re the only ones attributing cost — FinOps does per-unit for cloud. Our intersection = rows 3+4+2 together. Source: Competitor-Analysis/기능-비교-매트릭스.md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Timeline: entry (free credit-countdown wedge) → differentiation (unit economics + unit-price catalog) → moat (simulation accuracy + benchmark).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DEFINITION for Q&amp;A: 'monitored agent' = a named, registered agent pipeline (not an API request, not an invocation). If judge asks 'what counts as one agent?' → 'Same as a Datadog host: each distinct AI workflow you deploy gets one Kyber agent registration.' This avoids the 'does traffic spike my bill?' objection. ACV $30K = median of competitor mid-market ACVs (deep research 7/28). Detail: Solution/가격-재무-딥리서치-2026-07.md.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Trust Ladder steps 1→2→3 ARE the GTM expansion path. Beachhead = reachable AI-native scaleups (evidence + product coherence); non-AI-native mid-market (logistics-first) is the expansion where 'build it yourself' dies. Based on the stakeholder-map action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hide the 0 formal interviews — frame as 'building pricing on data.' Fill with real interview/design-partner counts before 8/6.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it short. One line on 'why us' to be filled by the team. Resolve the Team-slide role inconsistency before the pitch.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Finance goal = a 2nd meeting. THE ASK IS INTRODUCTIONS, NOT CAPITAL. Curve credible but AGGRESSIVE; NRR 110% = top-quartile target; ACV $30K = competitor-median validated. Version B recovers the Sarah persona (her world grows). Don't name a funding amount unless a judge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94560"/>
            <a:ext cx="104241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8ECF1"/>
                </a:solidFill>
                <a:latin typeface="Calibri"/>
              </a:rPr>
              <a:t>Kyber</a:t>
            </a:r>
          </a:p>
          <a:p>
            <a:pPr algn="l">
              <a:spcBef>
                <a:spcPts val="600"/>
              </a:spcBef>
            </a:pPr>
            <a:r>
              <a:rPr sz="2200" b="0" i="0">
                <a:solidFill>
                  <a:srgbClr val="35C9C9"/>
                </a:solidFill>
                <a:latin typeface="Calibri"/>
              </a:rPr>
              <a:t>Make the cost of every AI agent explainable.</a:t>
            </a:r>
          </a:p>
          <a:p>
            <a:pPr algn="l">
              <a:spcBef>
                <a:spcPts val="2200"/>
              </a:spcBef>
            </a:pPr>
            <a:r>
              <a:rPr sz="2000" b="0" i="1">
                <a:solidFill>
                  <a:srgbClr val="E8ECF1"/>
                </a:solidFill>
                <a:latin typeface="Calibri"/>
              </a:rPr>
              <a:t>"Not CCTV after the fire — a breaker before it ignites."</a:t>
            </a:r>
          </a:p>
          <a:p>
            <a:pPr algn="l">
              <a:spcBef>
                <a:spcPts val="1000"/>
              </a:spcBef>
            </a:pPr>
            <a:r>
              <a:rPr sz="1400" b="0" i="0">
                <a:solidFill>
                  <a:srgbClr val="9AA7B4"/>
                </a:solidFill>
                <a:latin typeface="Calibri"/>
              </a:rPr>
              <a:t>Govern the LLM / tool / external-API cost agents burn on their own — on the execution path — and explain it, audit-grade.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5943600"/>
            <a:ext cx="10424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AA7B4"/>
                </a:solidFill>
                <a:latin typeface="Calibri"/>
              </a:rPr>
              <a:t>Team · 2026 · Presenter</a:t>
            </a:r>
          </a:p>
          <a:p>
            <a:pPr algn="l"/>
            <a:r>
              <a:rPr sz="1100" b="1" i="0">
                <a:solidFill>
                  <a:srgbClr val="FF6B35"/>
                </a:solidFill>
                <a:latin typeface="Calibri"/>
              </a:rPr>
              <a:t>VERSION B — Hero Journey × Market Shift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COLD OPEN · MEET SARAH (BLINK TEST)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Meet Sarah. CTO of a mid-market SaaS.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Sarah's agents take live customer traffic in production. They call search, tools, and external APIs on their own.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Friday night, one retry loop quietly burned $47K over 11 days. No dashboard caught it in real time.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Monday board meeting: 'What's our AI cost per customer?' — Sarah couldn't answer.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2C14E"/>
                </a:solidFill>
                <a:latin typeface="Calibri"/>
              </a:rPr>
              <a:t>▸  ⚠  Sarah = an illustrative representative persona, not a real interviewed customer.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ZOOM OUT · THIS ISN'T SARAH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Not one person's mistake — the decider of spend has moved from humans to the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Old world: developers declare cost in code → predictable.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New world: the model itself pulls the spend trigger. Production tokens ≈ 50× a chatbot.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Companies that adapt explain their cost; companies that don't lose their margin.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35C9C9"/>
                </a:solidFill>
                <a:latin typeface="Calibri"/>
              </a:rPr>
              <a:t>▸  Why Now: Meta &amp; Uber built their own gateways, SatGate pre-launched — this must be solved now, with or without us.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THE VILLAIN · WHY SARAH COULDN'T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E8ECF1"/>
                </a:solidFill>
                <a:latin typeface="Calibri"/>
              </a:rPr>
              <a:t>Sarah's dashboard shows the total. It can't show the breakdown.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8ECF1"/>
                </a:solidFill>
                <a:latin typeface="Calibri"/>
              </a:rPr>
              <a:t>▸  Cloud logging gave Sarah the monthly total — but not 'per customer, per feature.' That split needs deliberate data structuring no tool did for her.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E8ECF1"/>
                </a:solidFill>
                <a:latin typeface="Calibri"/>
              </a:rPr>
              <a:t>▸  Observability = after-the-fact. Static keys &amp; caps = a blunt knife.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35C9C9"/>
                </a:solidFill>
                <a:latin typeface="Calibri"/>
              </a:rPr>
              <a:t>▸  Tools see only up to the LLM call — search, crawling, third-party APIs off-screen. So Sarah saw how much, but never to whom.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2148840"/>
            <a:ext cx="493776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6000" b="1" i="0">
                <a:solidFill>
                  <a:srgbClr val="35C9C9"/>
                </a:solidFill>
                <a:latin typeface="Calibri"/>
              </a:rPr>
              <a:t>41%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30632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 i="0">
                <a:solidFill>
                  <a:srgbClr val="E8ECF1"/>
                </a:solidFill>
                <a:latin typeface="Calibri"/>
              </a:rPr>
              <a:t>of COGS never touches a model.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3401568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 i="0">
                <a:solidFill>
                  <a:srgbClr val="9AA7B4"/>
                </a:solidFill>
                <a:latin typeface="Calibri"/>
              </a:rPr>
              <a:t>It is tool &amp; retrieval spend token dashboards don't see.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46520" y="4069080"/>
            <a:ext cx="2778404" cy="566928"/>
          </a:xfrm>
          <a:prstGeom prst="rect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24924" y="4069080"/>
            <a:ext cx="1130198" cy="566928"/>
          </a:xfrm>
          <a:prstGeom prst="rect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355122" y="4069080"/>
            <a:ext cx="800557" cy="566928"/>
          </a:xfrm>
          <a:prstGeom prst="rect">
            <a:avLst/>
          </a:prstGeom>
          <a:solidFill>
            <a:srgbClr val="35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73952" y="4937760"/>
            <a:ext cx="128016" cy="128016"/>
          </a:xfrm>
          <a:prstGeom prst="ellipse">
            <a:avLst/>
          </a:prstGeom>
          <a:solidFill>
            <a:srgbClr val="4A5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0" y="4892040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ECF1"/>
                </a:solidFill>
                <a:latin typeface="Calibri"/>
              </a:rPr>
              <a:t>LLM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489204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7B4"/>
                </a:solidFill>
                <a:latin typeface="Calibri"/>
              </a:rPr>
              <a:t>59% · $68.8K</a:t>
            </a:r>
          </a:p>
        </p:txBody>
      </p:sp>
      <p:sp>
        <p:nvSpPr>
          <p:cNvPr id="16" name="Oval 15"/>
          <p:cNvSpPr/>
          <p:nvPr/>
        </p:nvSpPr>
        <p:spPr>
          <a:xfrm>
            <a:off x="6473952" y="5321808"/>
            <a:ext cx="128016" cy="128016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66560" y="5276088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ECF1"/>
                </a:solidFill>
                <a:latin typeface="Calibri"/>
              </a:rPr>
              <a:t>Search Tool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78240" y="5276088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7B4"/>
                </a:solidFill>
                <a:latin typeface="Calibri"/>
              </a:rPr>
              <a:t>24% · $27.9K</a:t>
            </a:r>
          </a:p>
        </p:txBody>
      </p:sp>
      <p:sp>
        <p:nvSpPr>
          <p:cNvPr id="19" name="Oval 18"/>
          <p:cNvSpPr/>
          <p:nvPr/>
        </p:nvSpPr>
        <p:spPr>
          <a:xfrm>
            <a:off x="6473952" y="5705856"/>
            <a:ext cx="128016" cy="128016"/>
          </a:xfrm>
          <a:prstGeom prst="ellipse">
            <a:avLst/>
          </a:prstGeom>
          <a:solidFill>
            <a:srgbClr val="35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766560" y="5660136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 i="0">
                <a:solidFill>
                  <a:srgbClr val="E8ECF1"/>
                </a:solidFill>
                <a:latin typeface="Calibri"/>
              </a:rPr>
              <a:t>External DB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0" y="5660136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AA7B4"/>
                </a:solidFill>
                <a:latin typeface="Calibri"/>
              </a:rPr>
              <a:t>17% · $20.0K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6520" y="617220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35C9C9"/>
                </a:solidFill>
                <a:latin typeface="Calibri"/>
              </a:rPr>
              <a:t>Search + DB = $47.8K nobody attributes to the agent that spent it.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THE PROMISED LAND · SARAH TRANSFORMED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Now Sarah answers the Monday board question in 10 seconds.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AI cost per customer &amp; per feature, as real-time numbers.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'We cut your bill' ✗ → 'We let you explain your unit cost' ✓.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Pricing, the board, and due diligence become measured, not guessed.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VEHICLE · 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A layer that attributes and controls cost — on the execution path.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Logging gives you the total; we give you the breakdown. We attribute &amp; govern every LLM + tool + external-API call at request time — per feature / team / customer.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"Not CCTV after the fire — a breaker before it ignites." Block before execution + audit-grade reason for the block.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Enter via a Trust Ladder: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     –  Step 1 — off-path reports (no proxy)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     –  Step 2 — async policy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     –  Step 3 — block inside the customer-owned gateway (we never own the path)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HOW IT WORKS ·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Three mechanisms — all in service of real-time cost attribution &amp; control.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1. Inline policy engine — evaluate &amp; block per session / customer / feature budget BEFORE execution. Block reason to an audit log. (SPOF/latency handled via sidecar, async, bypass.)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2. Semantic usage attribution — tag every call request → agent step → LLM / tool / external API. Keep a non-LLM unit-price catalog to sum true total cost.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▸  3. Dynamic model routing (by-product) — route by complexity, save with no quality loss. Mentioned only as a bonus (public technique = not a moat).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CUSTOMER · WHO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Sell to the AI-native scaleups we reach now — ride the non-AI-native wave that can't build it.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Beachhead (paid now): AI-native scaleup B2B — $50K–$500K/mo AI spend, 50–300 people, Series A–C, high tool / external-API share. They own their execution path → our pre-execution control fits, and they're reachable for design partners.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Why start here: this is where our evidence, demo &amp; first real signal (an ML lead at an AI-search company) already point — and where the product coheres end to end.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Expansion wave: non-AI-native mid-market in AX (logistics, manufacturing, finance) — $100K+/mo, 3+ vendors. No AI-engineering DNA → structurally can't build → the 'build it yourself' rebuttal dies, and the population dwarfs AI-natives.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▸  Buyer = CTO (economic), champion = AI / data-ops lead, finance = influencer. Per-customer COGS = a B2B need (customer = contract). Korea AI startups = free design partners.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2C14E"/>
                </a:solidFill>
                <a:latin typeface="Calibri"/>
              </a:rPr>
              <a:t>▸  ⚠  Bet, not fact: spend threshold, buyer, and the non-AI-native 'can't build' claim = validating in interviews.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MARKET · TAM / SAM / SOM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E8ECF1"/>
                </a:solidFill>
                <a:latin typeface="Calibri"/>
              </a:rPr>
              <a:t>Beachhead = reachable AI-native scaleups. Slope = the non-AI-native wave that can't build it. Bet the slope.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E8ECF1"/>
                </a:solidFill>
                <a:latin typeface="Calibri"/>
              </a:rPr>
              <a:t>▸  TAM ≈ $0.5–1.5B (2026) → $2–6B (2030): 1–2% of $50–60B enterprise GenAI spend (top-down, segment-agnostic; FinOps take-rate anchor). CAGR ~20%.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8ECF1"/>
                </a:solidFill>
                <a:latin typeface="Calibri"/>
              </a:rPr>
              <a:t>▸  SAM ≈ $0.24–0.45B → $0.8–1.8B: ICP-matching firms × ACV $30K — AI-native scaleups now, plus non-AI-native mid-market as it scales.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35C9C9"/>
                </a:solidFill>
                <a:latin typeface="Calibri"/>
              </a:rPr>
              <a:t>▸  SOM (3yr) ≈ $1.0–3.6M ARR: reachable AI-native beachhead (Korea design partners → US paid), expanding into non-AI-native adjacents.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F2C14E"/>
                </a:solidFill>
                <a:latin typeface="Calibri"/>
              </a:rPr>
              <a:t>▸  ⚠  SAM population = hypothesis, refined by interview screening pass-rate.</a:t>
            </a:r>
          </a:p>
        </p:txBody>
      </p:sp>
      <p:sp>
        <p:nvSpPr>
          <p:cNvPr id="7" name="Oval 6"/>
          <p:cNvSpPr/>
          <p:nvPr/>
        </p:nvSpPr>
        <p:spPr>
          <a:xfrm>
            <a:off x="6675120" y="2103120"/>
            <a:ext cx="4114800" cy="4114800"/>
          </a:xfrm>
          <a:prstGeom prst="ellipse">
            <a:avLst/>
          </a:prstGeom>
          <a:solidFill>
            <a:srgbClr val="12202B"/>
          </a:solidFill>
          <a:ln w="15875">
            <a:solidFill>
              <a:srgbClr val="3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83780" y="2811780"/>
            <a:ext cx="2697480" cy="2697480"/>
          </a:xfrm>
          <a:prstGeom prst="ellipse">
            <a:avLst/>
          </a:prstGeom>
          <a:solidFill>
            <a:srgbClr val="17323C"/>
          </a:solidFill>
          <a:ln w="12700">
            <a:solidFill>
              <a:srgbClr val="3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15300" y="3543300"/>
            <a:ext cx="1234440" cy="123444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69480" y="233172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1" i="0">
                <a:solidFill>
                  <a:srgbClr val="35C9C9"/>
                </a:solidFill>
                <a:latin typeface="Calibri"/>
              </a:rPr>
              <a:t>TAM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65176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00" b="0" i="0">
                <a:solidFill>
                  <a:srgbClr val="E8ECF1"/>
                </a:solidFill>
                <a:latin typeface="Calibri"/>
              </a:rPr>
              <a:t>$0.5–1.5B  (2026)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24612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CF1"/>
                </a:solidFill>
                <a:latin typeface="Calibri"/>
              </a:rPr>
              <a:t>SAM  $0.24–0.45B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80" y="3913632"/>
            <a:ext cx="15544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0E141B"/>
                </a:solidFill>
                <a:latin typeface="Calibri"/>
              </a:rPr>
              <a:t>SOM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4224528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141B"/>
                </a:solidFill>
                <a:latin typeface="Calibri"/>
              </a:rPr>
              <a:t>$1.0–3.6M ARR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617220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7B4"/>
                </a:solidFill>
                <a:latin typeface="Calibri"/>
              </a:rPr>
              <a:t>3-yr, not to scale  ·  main lens = governed AI spend × ~1–2% take-rate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COMPETITION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E8ECF1"/>
                </a:solidFill>
                <a:latin typeface="Calibri"/>
              </a:rPr>
              <a:t>Two axes: after-the-fact vs. pre-execution × total visibility vs. audit-grade attribution.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8ECF1"/>
                </a:solidFill>
                <a:latin typeface="Calibri"/>
              </a:rPr>
              <a:t>▸  Showing the total is table stakes — logging, observability &amp; billing all do it.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35C9C9"/>
                </a:solidFill>
                <a:latin typeface="Calibri"/>
              </a:rPr>
              <a:t>▸  The gap = attributing the agent's full cost per feature / team / customer, audit-grade, before execution.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E8ECF1"/>
                </a:solidFill>
                <a:latin typeface="Calibri"/>
              </a:rPr>
              <a:t>▸  FinOps (CloudZero · Vantage) does per-unit attribution — but for cloud spend, after-the-fact, off the agent path.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E8ECF1"/>
                </a:solidFill>
                <a:latin typeface="Calibri"/>
              </a:rPr>
              <a:t>▸  Our square — pre-execution × audit-grade attribution. Nobody occupies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8915400" y="2331720"/>
            <a:ext cx="2011680" cy="1600200"/>
          </a:xfrm>
          <a:prstGeom prst="rect">
            <a:avLst/>
          </a:prstGeom>
          <a:solidFill>
            <a:srgbClr val="1430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6903720" y="3931920"/>
            <a:ext cx="4023360" cy="0"/>
          </a:xfrm>
          <a:prstGeom prst="bentConnector3">
            <a:avLst/>
          </a:prstGeom>
          <a:ln w="1587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915400" y="2331720"/>
            <a:ext cx="0" cy="3200400"/>
          </a:xfrm>
          <a:prstGeom prst="bentConnector3">
            <a:avLst/>
          </a:prstGeom>
          <a:ln w="15875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0" y="3767328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After-the-fact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2680" y="3767328"/>
            <a:ext cx="10972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9AA7B4"/>
                </a:solidFill>
                <a:latin typeface="Calibri"/>
              </a:rPr>
              <a:t>Pre-execution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0" y="2020824"/>
            <a:ext cx="28346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1" i="0">
                <a:solidFill>
                  <a:srgbClr val="35C9C9"/>
                </a:solidFill>
                <a:latin typeface="Calibri"/>
              </a:rPr>
              <a:t>Audit-grade attribution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5559552"/>
            <a:ext cx="2560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7B4"/>
                </a:solidFill>
                <a:latin typeface="Calibri"/>
              </a:rPr>
              <a:t>Total visibility only</a:t>
            </a:r>
          </a:p>
        </p:txBody>
      </p:sp>
      <p:sp>
        <p:nvSpPr>
          <p:cNvPr id="14" name="Oval 13"/>
          <p:cNvSpPr/>
          <p:nvPr/>
        </p:nvSpPr>
        <p:spPr>
          <a:xfrm>
            <a:off x="7563916" y="4764024"/>
            <a:ext cx="128016" cy="128016"/>
          </a:xfrm>
          <a:prstGeom prst="ellipse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5940" y="468172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1"/>
                </a:solidFill>
                <a:latin typeface="Calibri"/>
              </a:rPr>
              <a:t>Langfuse · Helicone</a:t>
            </a:r>
          </a:p>
        </p:txBody>
      </p:sp>
      <p:sp>
        <p:nvSpPr>
          <p:cNvPr id="16" name="Oval 15"/>
          <p:cNvSpPr/>
          <p:nvPr/>
        </p:nvSpPr>
        <p:spPr>
          <a:xfrm>
            <a:off x="7242048" y="5276088"/>
            <a:ext cx="128016" cy="128016"/>
          </a:xfrm>
          <a:prstGeom prst="ellipse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34072" y="519379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1"/>
                </a:solidFill>
                <a:latin typeface="Calibri"/>
              </a:rPr>
              <a:t>Logs · scripts</a:t>
            </a:r>
          </a:p>
        </p:txBody>
      </p:sp>
      <p:sp>
        <p:nvSpPr>
          <p:cNvPr id="18" name="Oval 17"/>
          <p:cNvSpPr/>
          <p:nvPr/>
        </p:nvSpPr>
        <p:spPr>
          <a:xfrm>
            <a:off x="7805318" y="3099816"/>
            <a:ext cx="128016" cy="128016"/>
          </a:xfrm>
          <a:prstGeom prst="ellipse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97342" y="3017520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E8ECF1"/>
                </a:solidFill>
                <a:latin typeface="Calibri"/>
              </a:rPr>
              <a:t>CloudZero · Vantage*</a:t>
            </a:r>
          </a:p>
        </p:txBody>
      </p:sp>
      <p:sp>
        <p:nvSpPr>
          <p:cNvPr id="20" name="Oval 19"/>
          <p:cNvSpPr/>
          <p:nvPr/>
        </p:nvSpPr>
        <p:spPr>
          <a:xfrm>
            <a:off x="9736531" y="4956048"/>
            <a:ext cx="128016" cy="128016"/>
          </a:xfrm>
          <a:prstGeom prst="ellipse">
            <a:avLst/>
          </a:prstGeom>
          <a:solidFill>
            <a:srgbClr val="9AA7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0571" y="4873752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E8ECF1"/>
                </a:solidFill>
                <a:latin typeface="Calibri"/>
              </a:rPr>
              <a:t>LiteLLM · Portkey</a:t>
            </a:r>
          </a:p>
        </p:txBody>
      </p:sp>
      <p:sp>
        <p:nvSpPr>
          <p:cNvPr id="22" name="Oval 21"/>
          <p:cNvSpPr/>
          <p:nvPr/>
        </p:nvSpPr>
        <p:spPr>
          <a:xfrm>
            <a:off x="9816998" y="2907792"/>
            <a:ext cx="128016" cy="128016"/>
          </a:xfrm>
          <a:prstGeom prst="ellipse">
            <a:avLst/>
          </a:prstGeom>
          <a:solidFill>
            <a:srgbClr val="F2C1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51038" y="2825496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900" b="0" i="0">
                <a:solidFill>
                  <a:srgbClr val="F2C14E"/>
                </a:solidFill>
                <a:latin typeface="Calibri"/>
              </a:rPr>
              <a:t>SatGate (pre-launch)</a:t>
            </a:r>
          </a:p>
        </p:txBody>
      </p:sp>
      <p:sp>
        <p:nvSpPr>
          <p:cNvPr id="24" name="Oval 23"/>
          <p:cNvSpPr/>
          <p:nvPr/>
        </p:nvSpPr>
        <p:spPr>
          <a:xfrm>
            <a:off x="10352836" y="2496312"/>
            <a:ext cx="182880" cy="182880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4308" y="2441448"/>
            <a:ext cx="192024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F6B35"/>
                </a:solidFill>
                <a:latin typeface="Calibri"/>
              </a:rPr>
              <a:t>Kyber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55080" y="6199632"/>
            <a:ext cx="512064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AA7B4"/>
                </a:solidFill>
                <a:latin typeface="Calibri"/>
              </a:rPr>
              <a:t>*FinOps attributes cloud spend — off the agent path, after-the-fact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WHY KYBER · FEATURE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ECF1"/>
                </a:solidFill>
                <a:latin typeface="Calibri"/>
              </a:rPr>
              <a:t>Every competitor stops short on at least one axis. We don’t.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920240"/>
            <a:ext cx="2560320" cy="530352"/>
          </a:xfrm>
          <a:prstGeom prst="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1920240"/>
            <a:ext cx="1691640" cy="530352"/>
          </a:xfrm>
          <a:prstGeom prst="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7B4"/>
                </a:solidFill>
                <a:latin typeface="Calibri"/>
              </a:rPr>
              <a:t>Langfuse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920240"/>
            <a:ext cx="1691640" cy="530352"/>
          </a:xfrm>
          <a:prstGeom prst="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9204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7B4"/>
                </a:solidFill>
                <a:latin typeface="Calibri"/>
              </a:rPr>
              <a:t>CloudZero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537960" y="1920240"/>
            <a:ext cx="1691640" cy="530352"/>
          </a:xfrm>
          <a:prstGeom prst="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7B4"/>
                </a:solidFill>
                <a:latin typeface="Calibri"/>
              </a:rPr>
              <a:t>LiteLLM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920240"/>
            <a:ext cx="1691640" cy="530352"/>
          </a:xfrm>
          <a:prstGeom prst="rect">
            <a:avLst/>
          </a:prstGeom>
          <a:solidFill>
            <a:srgbClr val="1620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9AA7B4"/>
                </a:solidFill>
                <a:latin typeface="Calibri"/>
              </a:rPr>
              <a:t>SatGate 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21240" y="1920240"/>
            <a:ext cx="1691640" cy="530352"/>
          </a:xfrm>
          <a:prstGeom prst="rect">
            <a:avLst/>
          </a:prstGeom>
          <a:solidFill>
            <a:srgbClr val="35C9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66960" y="1920240"/>
            <a:ext cx="160020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000" b="1" i="0">
                <a:solidFill>
                  <a:srgbClr val="0E141B"/>
                </a:solidFill>
                <a:latin typeface="Calibri"/>
              </a:rPr>
              <a:t>Kyber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2450592"/>
            <a:ext cx="256032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0664" y="2450592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1"/>
                </a:solidFill>
                <a:latin typeface="Calibri"/>
              </a:rPr>
              <a:t>LLM cost tracking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54680" y="2450592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5468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5C9C9"/>
                </a:solidFill>
                <a:latin typeface="Calibri"/>
              </a:rPr>
              <a:t>✓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846320" y="2450592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4632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5C9C9"/>
                </a:solidFill>
                <a:latin typeface="Calibri"/>
              </a:rPr>
              <a:t>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537960" y="2450592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3796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5C9C9"/>
                </a:solidFill>
                <a:latin typeface="Calibri"/>
              </a:rPr>
              <a:t>✓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450592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921240" y="2450592"/>
            <a:ext cx="1691640" cy="530352"/>
          </a:xfrm>
          <a:prstGeom prst="rect">
            <a:avLst/>
          </a:prstGeom>
          <a:solidFill>
            <a:srgbClr val="0C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450592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" y="2980944"/>
            <a:ext cx="256032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40664" y="2980944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1"/>
                </a:solidFill>
                <a:latin typeface="Calibri"/>
              </a:rPr>
              <a:t>Pre-execution blocking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54680" y="2980944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5468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46320" y="2980944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4632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37960" y="2980944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3796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5C9C9"/>
                </a:solidFill>
                <a:latin typeface="Calibri"/>
              </a:rPr>
              <a:t>✓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0" y="2980944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921240" y="2980944"/>
            <a:ext cx="1691640" cy="530352"/>
          </a:xfrm>
          <a:prstGeom prst="rect">
            <a:avLst/>
          </a:prstGeom>
          <a:solidFill>
            <a:srgbClr val="0C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2980944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" y="3511296"/>
            <a:ext cx="256032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40664" y="3511296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1"/>
                </a:solidFill>
                <a:latin typeface="Calibri"/>
              </a:rPr>
              <a:t>Non-LLM tool attribution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54680" y="3511296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5468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846320" y="3511296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84632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537960" y="3511296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3796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9600" y="3511296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921240" y="3511296"/>
            <a:ext cx="1691640" cy="530352"/>
          </a:xfrm>
          <a:prstGeom prst="rect">
            <a:avLst/>
          </a:prstGeom>
          <a:solidFill>
            <a:srgbClr val="0C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3511296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" y="4041648"/>
            <a:ext cx="256032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40664" y="4041648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1"/>
                </a:solidFill>
                <a:latin typeface="Calibri"/>
              </a:rPr>
              <a:t>Per-customer COGS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54680" y="4041648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5468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846320" y="4041648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84632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537960" y="4041648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3796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9600" y="4041648"/>
            <a:ext cx="1691640" cy="530352"/>
          </a:xfrm>
          <a:prstGeom prst="rect">
            <a:avLst/>
          </a:prstGeom>
          <a:solidFill>
            <a:srgbClr val="1621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2960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F2C14E"/>
                </a:solidFill>
                <a:latin typeface="Calibri"/>
              </a:rPr>
              <a:t>~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921240" y="4041648"/>
            <a:ext cx="1691640" cy="530352"/>
          </a:xfrm>
          <a:prstGeom prst="rect">
            <a:avLst/>
          </a:prstGeom>
          <a:solidFill>
            <a:srgbClr val="0C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4041648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" y="4572000"/>
            <a:ext cx="256032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40664" y="4572000"/>
            <a:ext cx="23774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0" i="0">
                <a:solidFill>
                  <a:srgbClr val="E8ECF1"/>
                </a:solidFill>
                <a:latin typeface="Calibri"/>
              </a:rPr>
              <a:t>Runaway loop detection</a:t>
            </a:r>
          </a:p>
        </p:txBody>
      </p:sp>
      <p:sp>
        <p:nvSpPr>
          <p:cNvPr id="67" name="Rectangle 66"/>
          <p:cNvSpPr/>
          <p:nvPr/>
        </p:nvSpPr>
        <p:spPr>
          <a:xfrm>
            <a:off x="3154680" y="4572000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315468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69" name="Rectangle 68"/>
          <p:cNvSpPr/>
          <p:nvPr/>
        </p:nvSpPr>
        <p:spPr>
          <a:xfrm>
            <a:off x="4846320" y="4572000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484632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537960" y="4572000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53796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73" name="Rectangle 72"/>
          <p:cNvSpPr/>
          <p:nvPr/>
        </p:nvSpPr>
        <p:spPr>
          <a:xfrm>
            <a:off x="8229600" y="4572000"/>
            <a:ext cx="1691640" cy="530352"/>
          </a:xfrm>
          <a:prstGeom prst="rect">
            <a:avLst/>
          </a:prstGeom>
          <a:solidFill>
            <a:srgbClr val="121B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822960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0" i="0">
                <a:solidFill>
                  <a:srgbClr val="9AA7B4"/>
                </a:solidFill>
                <a:latin typeface="Calibri"/>
              </a:rPr>
              <a:t>✗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921240" y="4572000"/>
            <a:ext cx="1691640" cy="530352"/>
          </a:xfrm>
          <a:prstGeom prst="rect">
            <a:avLst/>
          </a:prstGeom>
          <a:solidFill>
            <a:srgbClr val="0C27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9921240" y="4572000"/>
            <a:ext cx="1691640" cy="5303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F6B35"/>
                </a:solidFill>
                <a:latin typeface="Calibri"/>
              </a:rPr>
              <a:t>✓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94360" y="51937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00" b="0" i="0">
                <a:solidFill>
                  <a:srgbClr val="9AA7B4"/>
                </a:solidFill>
                <a:latin typeface="Calibri"/>
              </a:rPr>
              <a:t>❂ SatGate = pre-launch  ·  ~ = partial / claimed  ·  Langfuse = Langfuse/Helicone  ·  CloudZero = CloudZero/Vantage  ·  source: public docs 2026-07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MOAT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What gets copied is features. What can't be caught up is data.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▸  Caching, routing, hard-limits = replicable in 6 months. Not a moat.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Moat = things that get stronger as customer data accumulates: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     –  1. Unit-economics accuracy gap — more traffic → sharper runaway detection &amp; cost simulation. Followers start from zero data.</a:t>
            </a:r>
          </a:p>
          <a:p>
            <a:pPr lvl="1"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     –  2. Peer benchmark (lagging) — 'top 20% cost-per-request vs. your peer type.' Scales with customer count; structurally impossible for latecomers.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Once this cost view is embedded in pricing &amp; board routines, switching cost spikes.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BUSINESS MODEL ·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A company that sells cost does not earn in proportion to the customer's cost.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Spend-proportional pricing ✗ (conflicts with the savings incentive). Price on monitored agents — not API calls, not spend.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35C9C9"/>
                </a:solidFill>
                <a:latin typeface="Calibri"/>
              </a:rPr>
              <a:t>▸  1 monitored agent = 1 distinct AI feature pipeline deployed in production (e.g., 'search-agent', 'summarizer', 'onboarding-bot'). Analogous to Datadog's per-host or APM per-service.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3 tiers: Free → Growth ~$18K/yr (automated COGS report) → Enterprise ~$60K/yr (audit-grade + in-path blocking). Blended ACV ~$30K.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▸  Anchored in comps: LLM observability $5–25K &lt; us $30K &lt; cloud FinOps $30–130K. Precedents: Agentforce per-agent, Datadog per-host.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Expansion = as the customer ships more AI features, agent count grows → net-negative churn.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2C14E"/>
                </a:solidFill>
                <a:latin typeface="Calibri"/>
              </a:rPr>
              <a:t>▸  ⚠  Price figures are hypotheses to validate in interviews.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The champion bites for free; the CTO opens the wallet for COGS.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Landing: free Cost Autopsy report (off-path) → an AI / eng lead at an AI-native scaleup adopts bottom-up.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Conversion: at an incident or credit burn-out, the champion pitches the CTO paid → land with COGS &amp; margin reports.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35C9C9"/>
                </a:solidFill>
                <a:latin typeface="Calibri"/>
              </a:rPr>
              <a:t>▸  Market order: Korea AI startups (free design partners / validation) → US AI-native scaleups (paid beachhead) → non-AI-native mid-market expansion (logistics-first).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Blocker pre-empt: to IT/legal — 'metadata only + cross-vendor independent audit.'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In place of traction, how precisely we've narrowed the problem — and our first real signal.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How we sell = we don't sell to everyone. A discipline that quickly filters anti-ICP.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35C9C9"/>
                </a:solidFill>
                <a:latin typeface="Calibri"/>
              </a:rPr>
              <a:t>▸  First real signal — an ML lead at a Korean AI-search company (2 rounds) confirmed build/buy splits cost structure, and that per-customer attribution needs deliberate data work.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Outreach sent (Korea AI startups + US mid-market Top 5). Design partners: N in progress.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Formal interviews: 0 → N in progress, first signal secured (pricing built on data, honestly stated).</a:t>
            </a:r>
          </a:p>
          <a:p>
            <a:pPr algn="l">
              <a:spcAft>
                <a:spcPts val="800"/>
              </a:spcAft>
            </a:pPr>
            <a:r>
              <a:rPr sz="1700" b="1" i="0">
                <a:solidFill>
                  <a:srgbClr val="E8ECF1"/>
                </a:solidFill>
                <a:latin typeface="Calibri"/>
              </a:rPr>
              <a:t>▸  Target metric = net-negative churn (agent expansion).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E8ECF1"/>
                </a:solidFill>
                <a:latin typeface="Calibri"/>
              </a:rPr>
              <a:t>Technology × customer development — a 2-person core.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1042416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Taewon — technology &amp; product (agent orchestration · infrastructure).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E8ECF1"/>
                </a:solidFill>
                <a:latin typeface="Calibri"/>
              </a:rPr>
              <a:t>▸  Jaemin (Malik) — CEO · customer development · GTM · research.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9AA7B4"/>
                </a:solidFill>
                <a:latin typeface="Calibri"/>
              </a:rPr>
              <a:t>▸  (Advisors &amp; design-partner relationships added as secured.)</a:t>
            </a:r>
          </a:p>
          <a:p>
            <a:pPr algn="l">
              <a:spcAft>
                <a:spcPts val="800"/>
              </a:spcAft>
            </a:pPr>
            <a:r>
              <a:rPr sz="1700" b="0" i="0">
                <a:solidFill>
                  <a:srgbClr val="F2C14E"/>
                </a:solidFill>
                <a:latin typeface="Calibri"/>
              </a:rPr>
              <a:t>▸  ⚠  Confirm role split — deck vs. memory mismatch on who is CEO; align before the pitch.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41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640080"/>
            <a:ext cx="146304" cy="502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566928"/>
            <a:ext cx="8686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5C9C9"/>
                </a:solidFill>
                <a:latin typeface="Calibri"/>
              </a:rPr>
              <a:t>VISION · ASK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502920"/>
            <a:ext cx="822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9AA7B4"/>
                </a:solidFill>
                <a:latin typeface="Calibri"/>
              </a:rPr>
              <a:t>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051560"/>
            <a:ext cx="106070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E8ECF1"/>
                </a:solidFill>
                <a:latin typeface="Calibri"/>
              </a:rPr>
              <a:t>As agents grow, revenue bends into a curve.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48840"/>
            <a:ext cx="52578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9AA7B4"/>
                </a:solidFill>
                <a:latin typeface="Calibri"/>
              </a:rPr>
              <a:t>▸  Revenue only (no cost/net income). Engine = new logos + agent expansion.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35C9C9"/>
                </a:solidFill>
                <a:latin typeface="Calibri"/>
              </a:rPr>
              <a:t>▸  Vision: in an age where autonomous software spends money, a world where every dollar is explainable.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FF6B35"/>
                </a:solidFill>
                <a:latin typeface="Calibri"/>
              </a:rPr>
              <a:t>▸  Our ask isn't a check — it's connections:</a:t>
            </a:r>
          </a:p>
          <a:p>
            <a:pPr algn="l">
              <a:spcAft>
                <a:spcPts val="900"/>
              </a:spcAft>
            </a:pPr>
            <a:r>
              <a:rPr sz="1500" b="0" i="0">
                <a:solidFill>
                  <a:srgbClr val="35C9C9"/>
                </a:solidFill>
                <a:latin typeface="Calibri"/>
              </a:rPr>
              <a:t>▸  (a) AI / infra advisors  ·  (b) mid-market design partners  ·  (c) warm intros to CTOs like Sarah running agents in production.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903720" y="5532120"/>
            <a:ext cx="4297680" cy="0"/>
          </a:xfrm>
          <a:prstGeom prst="bentConnector3">
            <a:avLst/>
          </a:prstGeom>
          <a:ln w="12700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903720" y="2514600"/>
            <a:ext cx="0" cy="3017520"/>
          </a:xfrm>
          <a:prstGeom prst="bentConnector3">
            <a:avLst/>
          </a:prstGeom>
          <a:ln w="12700">
            <a:solidFill>
              <a:srgbClr val="9AA7B4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Freeform 8"/>
          <p:cNvSpPr/>
          <p:nvPr/>
        </p:nvSpPr>
        <p:spPr>
          <a:xfrm>
            <a:off x="6903720" y="2514600"/>
            <a:ext cx="4297680" cy="3017520"/>
          </a:xfrm>
          <a:custGeom>
            <a:avLst/>
            <a:gdLst/>
            <a:ahLst/>
            <a:cxnLst/>
            <a:rect l="l" t="t" r="r" b="b"/>
            <a:pathLst>
              <a:path w="4297680" h="3017520">
                <a:moveTo>
                  <a:pt x="0" y="3017520"/>
                </a:moveTo>
                <a:lnTo>
                  <a:pt x="0" y="3017520"/>
                </a:lnTo>
                <a:lnTo>
                  <a:pt x="1432560" y="2866644"/>
                </a:lnTo>
                <a:lnTo>
                  <a:pt x="2865120" y="2168842"/>
                </a:lnTo>
                <a:lnTo>
                  <a:pt x="4297680" y="0"/>
                </a:lnTo>
                <a:lnTo>
                  <a:pt x="4297680" y="3017520"/>
                </a:lnTo>
                <a:close/>
              </a:path>
            </a:pathLst>
          </a:custGeom>
          <a:solidFill>
            <a:srgbClr val="123A40"/>
          </a:solidFill>
          <a:ln w="31750">
            <a:solidFill>
              <a:srgbClr val="35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7B4"/>
                </a:solidFill>
                <a:latin typeface="Calibri"/>
              </a:rPr>
              <a:t>Yr0</a:t>
            </a:r>
          </a:p>
        </p:txBody>
      </p:sp>
      <p:sp>
        <p:nvSpPr>
          <p:cNvPr id="11" name="Oval 10"/>
          <p:cNvSpPr/>
          <p:nvPr/>
        </p:nvSpPr>
        <p:spPr>
          <a:xfrm>
            <a:off x="8263128" y="5308092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59040" y="49606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CF1"/>
                </a:solidFill>
                <a:latin typeface="Calibri"/>
              </a:rPr>
              <a:t>$0.24M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8764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7B4"/>
                </a:solidFill>
                <a:latin typeface="Calibri"/>
              </a:rPr>
              <a:t>Yr1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9620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5C9C9"/>
                </a:solidFill>
                <a:latin typeface="Calibri"/>
              </a:rPr>
              <a:t>8 cust.</a:t>
            </a:r>
          </a:p>
        </p:txBody>
      </p:sp>
      <p:sp>
        <p:nvSpPr>
          <p:cNvPr id="15" name="Oval 14"/>
          <p:cNvSpPr/>
          <p:nvPr/>
        </p:nvSpPr>
        <p:spPr>
          <a:xfrm>
            <a:off x="9695688" y="4610290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91600" y="4262818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CF1"/>
                </a:solidFill>
                <a:latin typeface="Calibri"/>
              </a:rPr>
              <a:t>$1.35M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020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7B4"/>
                </a:solidFill>
                <a:latin typeface="Calibri"/>
              </a:rPr>
              <a:t>Yr2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876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5C9C9"/>
                </a:solidFill>
                <a:latin typeface="Calibri"/>
              </a:rPr>
              <a:t>45 cust.</a:t>
            </a:r>
          </a:p>
        </p:txBody>
      </p:sp>
      <p:sp>
        <p:nvSpPr>
          <p:cNvPr id="19" name="Oval 18"/>
          <p:cNvSpPr/>
          <p:nvPr/>
        </p:nvSpPr>
        <p:spPr>
          <a:xfrm>
            <a:off x="11128248" y="2441448"/>
            <a:ext cx="146304" cy="146304"/>
          </a:xfrm>
          <a:prstGeom prst="ellipse">
            <a:avLst/>
          </a:prstGeom>
          <a:solidFill>
            <a:srgbClr val="FF6B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424160" y="2093976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300" b="1" i="0">
                <a:solidFill>
                  <a:srgbClr val="E8ECF1"/>
                </a:solidFill>
                <a:latin typeface="Calibri"/>
              </a:rPr>
              <a:t>$4.8M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52760" y="558698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9AA7B4"/>
                </a:solidFill>
                <a:latin typeface="Calibri"/>
              </a:rPr>
              <a:t>Yr3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61320" y="5861304"/>
            <a:ext cx="1280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35C9C9"/>
                </a:solidFill>
                <a:latin typeface="Calibri"/>
              </a:rPr>
              <a:t>160 cust.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6355080"/>
            <a:ext cx="512064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000" b="0" i="0">
                <a:solidFill>
                  <a:srgbClr val="F2C14E"/>
                </a:solidFill>
                <a:latin typeface="Calibri"/>
              </a:rPr>
              <a:t>ARR @ $30K ACV  ·  ⚠ strong-execution case (target NRR ~110%)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