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with a specific person conveys 'this is for a specific person (a mid-market CTO), not everyone.' The 'representative persona' label is mandatory.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slide hero → market shift. Only here assert the shift as 'one undeniable layer.'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the gap isn't 'total invisible' (cloud logging shows it) — it's per-feature/team/customer attribution + the 41% non-LLM spend. Keep incident numbers ($47K) tied to Sarah.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Completes the hero journey (problem → experiencing the solution → change).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the React demo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Label the 'can't build' load-bearing claim as a ⚠ falsifiable bet, and pre-empt the Liner counter — 'estimable ≠ audit-grade attribution'. B2B/per-customer rationale added 7/29.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7/28). We don't price on take-rate (per-agent) — it's a market-sizing sanity check only. Source: Market/TAM-SAM-SOM.md.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Reframed 7/29: don't say rivals 'can't see cost' — they show totals. HONESTY: FinOps already sells per-unit attribution, but for cloud/infra spend, after-the-fact, not the agent execution path. Our differentiation = the intersection. SatGate pre-launch = timing validation, not absent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to be filled by the team. Resolve the Team-slide role inconsistency before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meeting. THE ASK IS INTRODUCTIONS, NOT CAPITAL. Curve credible but AGGRESSIVE; NRR 110% = top-quartile target; ACV $30K = competitor-median validated. Version B recovers the Sarah persona (her world grows). Don't name a funding amount unless a judge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B — Hero Journey ×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COLD OPEN · MEET SARAH (BLINK TEST)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Meet Sarah. CTO of a mid-market SaaS.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Sarah's agents take live customer traffic in production. They call search, tools, and external APIs on their own.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Friday night, one retry loop quietly burned $47K over 11 days. No dashboard caught it in real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Monday board meeting: 'What's our AI cost per customer?' — Sarah couldn't answer.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Sarah = an illustrative representative persona, not a real interviewed customer.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ZOOM OUT · THIS ISN'T SARAH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Not one person's mistake — the decider of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developers declare cost in code → predictable.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pulls the spend trigger. Production tokens ≈ 50× a chatbot.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Companies that adapt explain their cost; companies that don't lose their margin.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Meta &amp; Uber built their own gateways, SatGate pre-launched — this must be solved now, with or without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WHY SARAH COULDN'T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Sarah's dashboard shows the total. It can't show the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Cloud logging gave Sarah the monthly total — but not 'per customer, per feature.' That split needs deliberate data structuring no tool did for her.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Observability = after-the-fact. Static keys &amp; caps = a blunt knife.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Tools see only up to the LLM call — search, crawling, third-party APIs off-screen. So Sarah saw how much, but never to whom.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488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35C9C9"/>
                </a:solidFill>
                <a:latin typeface="Calibri"/>
              </a:rPr>
              <a:t>41%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0632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ECF1"/>
                </a:solidFill>
                <a:latin typeface="Calibri"/>
              </a:rPr>
              <a:t>of COGS never touches a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7B4"/>
                </a:solidFill>
                <a:latin typeface="Calibri"/>
              </a:rPr>
              <a:t>It is tool &amp; retrieval spend token dashboards don't see.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4069080"/>
            <a:ext cx="2778404" cy="566928"/>
          </a:xfrm>
          <a:prstGeom prst="rect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224924" y="4069080"/>
            <a:ext cx="1130198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55122" y="4069080"/>
            <a:ext cx="800557" cy="566928"/>
          </a:xfrm>
          <a:prstGeom prst="rect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4937760"/>
            <a:ext cx="128016" cy="128016"/>
          </a:xfrm>
          <a:prstGeom prst="ellipse">
            <a:avLst/>
          </a:prstGeom>
          <a:solidFill>
            <a:srgbClr val="4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48920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48920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59% · $68.8K</a:t>
            </a:r>
          </a:p>
        </p:txBody>
      </p:sp>
      <p:sp>
        <p:nvSpPr>
          <p:cNvPr id="16" name="Oval 15"/>
          <p:cNvSpPr/>
          <p:nvPr/>
        </p:nvSpPr>
        <p:spPr>
          <a:xfrm>
            <a:off x="6473952" y="5321808"/>
            <a:ext cx="128016" cy="12801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527608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Search 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2760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24% · $27.9K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5705856"/>
            <a:ext cx="128016" cy="128016"/>
          </a:xfrm>
          <a:prstGeom prst="ellipse">
            <a:avLst/>
          </a:prstGeom>
          <a:solidFill>
            <a:srgbClr val="35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566013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ECF1"/>
                </a:solidFill>
                <a:latin typeface="Calibri"/>
              </a:rPr>
              <a:t>External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56601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7B4"/>
                </a:solidFill>
                <a:latin typeface="Calibri"/>
              </a:rPr>
              <a:t>17% · $20.0K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6172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5C9C9"/>
                </a:solidFill>
                <a:latin typeface="Calibri"/>
              </a:rPr>
              <a:t>Search + DB = $47.8K nobody attributes to the agent that spent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SARAH TRANSFORMED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Now Sarah answers the Monday board question in 10 seconds.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AI cost per customer &amp; per feature, as real-time numbers.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bill' ✗ → 'We let you explain your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measured, not guessed.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Logging gives you the total; we give you the breakdown. We attribute &amp; govern every LLM + tool + external-API call at request time — per feature / team / customer.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B2B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Why B2B: per-customer unit cost is a B2B need (customer = contract). B2C rolls cost up by category — a B2B CTO must defend margin per account. (An ML lead we spoke with framed it exactly this way.)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 Buyer = CTO, champion = AI lead,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Lens A (governed AI spend × ~1–2% take-rate) = main; Lens B (AI FinOps + LLMOps) = cross-check. CAGR ~20%.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ACV $30K = median of competitor mid-market ACVs.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SOM engine: 50–150 US paid, seeded by the Korea wedge + US network.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F2C14E"/>
                </a:solidFill>
                <a:latin typeface="Calibri"/>
              </a:rPr>
              <a:t>▸  ⚠  SAM population (10–20K firms) = hypothesis, refined by interview screening pass-rate.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103120"/>
            <a:ext cx="4114800" cy="4114800"/>
          </a:xfrm>
          <a:prstGeom prst="ellipse">
            <a:avLst/>
          </a:prstGeom>
          <a:solidFill>
            <a:srgbClr val="12202B"/>
          </a:solidFill>
          <a:ln w="15875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83780" y="2811780"/>
            <a:ext cx="2697480" cy="2697480"/>
          </a:xfrm>
          <a:prstGeom prst="ellipse">
            <a:avLst/>
          </a:prstGeom>
          <a:solidFill>
            <a:srgbClr val="17323C"/>
          </a:solidFill>
          <a:ln w="1270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115300" y="3543300"/>
            <a:ext cx="1234440" cy="123444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23317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5C9C9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E8ECF1"/>
                </a:solidFill>
                <a:latin typeface="Calibri"/>
              </a:rPr>
              <a:t>$0.5–1.8B  (2026)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SAM  $0.3–0.6B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9136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E141B"/>
                </a:solidFill>
                <a:latin typeface="Calibri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E141B"/>
                </a:solidFill>
                <a:latin typeface="Calibri"/>
              </a:rPr>
              <a:t>$1.5–4.5M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6172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AA7B4"/>
                </a:solidFill>
                <a:latin typeface="Calibri"/>
              </a:rPr>
              <a:t>3-yr, not to scale  ·  main lens = governed AI spend × ~1–2% take-rate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Two axes: after-the-fact vs. pre-execution × total visibility vs. audit-grade attribution.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Showing the total is table stakes — logging, observability &amp; billing all do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The gap = attributing the agent's full cost per feature / team / customer, audit-grade, before execution.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E8ECF1"/>
                </a:solidFill>
                <a:latin typeface="Calibri"/>
              </a:rPr>
              <a:t>▸  FinOps (CloudZero · Vantage) does per-unit attribution — but for cloud spend, after-the-fact, off the agent path.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E8ECF1"/>
                </a:solidFill>
                <a:latin typeface="Calibri"/>
              </a:rPr>
              <a:t>▸  Our square — pre-execution × audit-grade attribution. Nobody occupies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15400" y="2331720"/>
            <a:ext cx="2011680" cy="16002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903720" y="3931920"/>
            <a:ext cx="4023360" cy="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15400" y="2331720"/>
            <a:ext cx="0" cy="3200400"/>
          </a:xfrm>
          <a:prstGeom prst="bentConnector3">
            <a:avLst/>
          </a:prstGeom>
          <a:ln w="15875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0" y="37673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7B4"/>
                </a:solidFill>
                <a:latin typeface="Calibri"/>
              </a:rPr>
              <a:t>After-the-fact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376732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AA7B4"/>
                </a:solidFill>
                <a:latin typeface="Calibri"/>
              </a:rPr>
              <a:t>Pre-execution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0" y="20208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5C9C9"/>
                </a:solidFill>
                <a:latin typeface="Calibri"/>
              </a:rPr>
              <a:t>Audit-grade 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5595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Total visibility only</a:t>
            </a:r>
          </a:p>
        </p:txBody>
      </p:sp>
      <p:sp>
        <p:nvSpPr>
          <p:cNvPr id="14" name="Oval 13"/>
          <p:cNvSpPr/>
          <p:nvPr/>
        </p:nvSpPr>
        <p:spPr>
          <a:xfrm>
            <a:off x="7563916" y="4764024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5940" y="468172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Langfuse · Helicone</a:t>
            </a:r>
          </a:p>
        </p:txBody>
      </p:sp>
      <p:sp>
        <p:nvSpPr>
          <p:cNvPr id="16" name="Oval 15"/>
          <p:cNvSpPr/>
          <p:nvPr/>
        </p:nvSpPr>
        <p:spPr>
          <a:xfrm>
            <a:off x="7242048" y="527608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72" y="519379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Logs · scripts</a:t>
            </a:r>
          </a:p>
        </p:txBody>
      </p:sp>
      <p:sp>
        <p:nvSpPr>
          <p:cNvPr id="18" name="Oval 17"/>
          <p:cNvSpPr/>
          <p:nvPr/>
        </p:nvSpPr>
        <p:spPr>
          <a:xfrm>
            <a:off x="7805318" y="3099816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7342" y="301752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E8ECF1"/>
                </a:solidFill>
                <a:latin typeface="Calibri"/>
              </a:rPr>
              <a:t>CloudZero · Vantage*</a:t>
            </a:r>
          </a:p>
        </p:txBody>
      </p:sp>
      <p:sp>
        <p:nvSpPr>
          <p:cNvPr id="20" name="Oval 19"/>
          <p:cNvSpPr/>
          <p:nvPr/>
        </p:nvSpPr>
        <p:spPr>
          <a:xfrm>
            <a:off x="9736531" y="4956048"/>
            <a:ext cx="128016" cy="128016"/>
          </a:xfrm>
          <a:prstGeom prst="ellipse">
            <a:avLst/>
          </a:prstGeom>
          <a:solidFill>
            <a:srgbClr val="9AA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0571" y="487375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E8ECF1"/>
                </a:solidFill>
                <a:latin typeface="Calibri"/>
              </a:rPr>
              <a:t>LiteLLM · Portkey</a:t>
            </a:r>
          </a:p>
        </p:txBody>
      </p:sp>
      <p:sp>
        <p:nvSpPr>
          <p:cNvPr id="22" name="Oval 21"/>
          <p:cNvSpPr/>
          <p:nvPr/>
        </p:nvSpPr>
        <p:spPr>
          <a:xfrm>
            <a:off x="9816998" y="2907792"/>
            <a:ext cx="128016" cy="128016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038" y="28254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2C14E"/>
                </a:solidFill>
                <a:latin typeface="Calibri"/>
              </a:rPr>
              <a:t>SatGate (pre-launch)</a:t>
            </a:r>
          </a:p>
        </p:txBody>
      </p:sp>
      <p:sp>
        <p:nvSpPr>
          <p:cNvPr id="24" name="Oval 23"/>
          <p:cNvSpPr/>
          <p:nvPr/>
        </p:nvSpPr>
        <p:spPr>
          <a:xfrm>
            <a:off x="10352836" y="2496312"/>
            <a:ext cx="182880" cy="1828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4308" y="244144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6B35"/>
                </a:solidFill>
                <a:latin typeface="Calibri"/>
              </a:rPr>
              <a:t>Kyber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6199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9AA7B4"/>
                </a:solidFill>
                <a:latin typeface="Calibri"/>
              </a:rPr>
              <a:t>*FinOps attributes cloud spend — off the agent path, after-the-fact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an ML lead at a Korean AI-search company (2 rounds) confirmed build/buy splits cost structure, and that per-customer attribution needs deliberate data 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 AI startups +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257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9AA7B4"/>
                </a:solidFill>
                <a:latin typeface="Calibri"/>
              </a:rPr>
              <a:t>▸  Revenue only (no cost/net income). Engine = new logos + agent expansion.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F6B35"/>
                </a:solidFill>
                <a:latin typeface="Calibri"/>
              </a:rPr>
              <a:t>▸  Our ask isn't a check — it's connections: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35C9C9"/>
                </a:solidFill>
                <a:latin typeface="Calibri"/>
              </a:rPr>
              <a:t>▸  (a) AI / infra advisors  ·  (b) mid-market design partners  ·  (c) warm intros to CTOs like Sarah running agents in production.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03720" y="5532120"/>
            <a:ext cx="4297680" cy="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03720" y="2514600"/>
            <a:ext cx="0" cy="3017520"/>
          </a:xfrm>
          <a:prstGeom prst="bentConnector3">
            <a:avLst/>
          </a:prstGeom>
          <a:ln w="12700">
            <a:solidFill>
              <a:srgbClr val="9AA7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903720" y="2514600"/>
            <a:ext cx="4297680" cy="3017520"/>
          </a:xfrm>
          <a:custGeom>
            <a:avLst/>
            <a:gdLst/>
            <a:ahLst/>
            <a:cxnLst/>
            <a:rect l="l" t="t" r="r" b="b"/>
            <a:pathLst>
              <a:path w="4297680" h="3017520">
                <a:moveTo>
                  <a:pt x="0" y="3017520"/>
                </a:moveTo>
                <a:lnTo>
                  <a:pt x="0" y="3017520"/>
                </a:lnTo>
                <a:lnTo>
                  <a:pt x="1432560" y="2866644"/>
                </a:lnTo>
                <a:lnTo>
                  <a:pt x="2865120" y="2168842"/>
                </a:lnTo>
                <a:lnTo>
                  <a:pt x="4297680" y="0"/>
                </a:lnTo>
                <a:lnTo>
                  <a:pt x="4297680" y="3017520"/>
                </a:lnTo>
                <a:close/>
              </a:path>
            </a:pathLst>
          </a:custGeom>
          <a:solidFill>
            <a:srgbClr val="123A40"/>
          </a:solidFill>
          <a:ln w="31750">
            <a:solidFill>
              <a:srgbClr val="35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Yr0</a:t>
            </a:r>
          </a:p>
        </p:txBody>
      </p:sp>
      <p:sp>
        <p:nvSpPr>
          <p:cNvPr id="11" name="Oval 10"/>
          <p:cNvSpPr/>
          <p:nvPr/>
        </p:nvSpPr>
        <p:spPr>
          <a:xfrm>
            <a:off x="8263128" y="53080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9040" y="496062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$0.24M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764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8 cust.</a:t>
            </a:r>
          </a:p>
        </p:txBody>
      </p:sp>
      <p:sp>
        <p:nvSpPr>
          <p:cNvPr id="15" name="Oval 14"/>
          <p:cNvSpPr/>
          <p:nvPr/>
        </p:nvSpPr>
        <p:spPr>
          <a:xfrm>
            <a:off x="9695688" y="461029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91600" y="4262818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$1.35M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87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45 cust.</a:t>
            </a:r>
          </a:p>
        </p:txBody>
      </p:sp>
      <p:sp>
        <p:nvSpPr>
          <p:cNvPr id="19" name="Oval 18"/>
          <p:cNvSpPr/>
          <p:nvPr/>
        </p:nvSpPr>
        <p:spPr>
          <a:xfrm>
            <a:off x="11128248" y="244144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209397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8ECF1"/>
                </a:solidFill>
                <a:latin typeface="Calibri"/>
              </a:rPr>
              <a:t>$4.8M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52760" y="55869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9AA7B4"/>
                </a:solidFill>
                <a:latin typeface="Calibri"/>
              </a:rPr>
              <a:t>Yr3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5C9C9"/>
                </a:solidFill>
                <a:latin typeface="Calibri"/>
              </a:rPr>
              <a:t>160 cust.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6355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F2C14E"/>
                </a:solidFill>
                <a:latin typeface="Calibri"/>
              </a:rPr>
              <a:t>ARR @ $30K ACV  ·  ⚠ strong-execution case (target NRR ~110%)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